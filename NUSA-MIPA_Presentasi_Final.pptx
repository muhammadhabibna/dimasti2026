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F6673"/>
                </a:solidFill>
                <a:latin typeface="Calibri"/>
              </a:defRPr>
            </a:pPr>
            <a:r>
              <a:rPr sz="1300" b="0" i="0" u="none" strike="noStrike">
                <a:solidFill>
                  <a:srgbClr val="5F6673"/>
                </a:solidFill>
                <a:latin typeface="Calibri"/>
              </a:rPr>
              <a:t>Rerata skor numerasi per jenjang, 514 kab/kota</a:t>
            </a:r>
          </a:p>
        </c:rich>
      </c:tx>
      <c:layout/>
      <c:overlay val="0"/>
    </c:title>
    <c:autoTitleDeleted val="0"/>
    <c:plotArea>
      <c:layout/>
      <c:barChart>
        <c:barDir val="col"/>
        <c:grouping val="clustered"/>
        <c:varyColors val="0"/>
        <c:ser>
          <c:idx val="0"/>
          <c:order val="0"/>
          <c:tx>
            <c:strRef>
              <c:f>Sheet1!$B$1</c:f>
              <c:strCache>
                <c:ptCount val="1"/>
                <c:pt idx="0">
                  <c:v>Rerata numerasi</c:v>
                </c:pt>
              </c:strCache>
            </c:strRef>
          </c:tx>
          <c:spPr>
            <a:solidFill>
              <a:srgbClr val="1F6FB2"/>
            </a:solidFill>
            <a:effectLst/>
          </c:spPr>
          <c:invertIfNegative val="0"/>
          <c:dLbls>
            <c:numFmt formatCode="0.00" sourceLinked="0"/>
            <c:txPr>
              <a:bodyPr/>
              <a:lstStyle/>
              <a:p>
                <a:pPr>
                  <a:defRPr b="1" i="0" strike="noStrike" sz="1600" u="none">
                    <a:solidFill>
                      <a:srgbClr val="13213A"/>
                    </a:solidFill>
                    <a:latin typeface="Calibri"/>
                  </a:defRPr>
                </a:pPr>
              </a:p>
            </c:txPr>
            <c:showLegendKey val="0"/>
            <c:showVal val="1"/>
            <c:showCatName val="0"/>
            <c:showSerName val="0"/>
            <c:showPercent val="0"/>
            <c:showBubbleSize val="0"/>
            <c:showLeaderLines val="0"/>
          </c:dLbls>
          <c:dPt>
            <c:idx val="0"/>
            <c:invertIfNegative val="0"/>
            <c:bubble3D val="0"/>
            <c:spPr>
              <a:solidFill>
                <a:srgbClr val="1F6FB2"/>
              </a:solidFill>
              <a:effectLst/>
            </c:spPr>
          </c:dPt>
          <c:dPt>
            <c:idx val="1"/>
            <c:invertIfNegative val="0"/>
            <c:bubble3D val="0"/>
            <c:spPr>
              <a:solidFill>
                <a:srgbClr val="1F6FB2"/>
              </a:solidFill>
              <a:effectLst/>
            </c:spPr>
          </c:dPt>
          <c:dPt>
            <c:idx val="2"/>
            <c:invertIfNegative val="0"/>
            <c:bubble3D val="0"/>
            <c:spPr>
              <a:solidFill>
                <a:srgbClr val="C4532A"/>
              </a:solidFill>
              <a:effectLst/>
            </c:spPr>
          </c:dPt>
          <c:dPt>
            <c:idx val="3"/>
            <c:invertIfNegative val="0"/>
            <c:bubble3D val="0"/>
            <c:spPr>
              <a:solidFill>
                <a:srgbClr val="C4532A"/>
              </a:solidFill>
              <a:effectLst/>
            </c:spPr>
          </c:dPt>
          <c:cat>
            <c:multiLvlStrRef>
              <c:f>Sheet1!$A$2:$A$5</c:f>
              <c:multiLvlStrCache>
                <c:ptCount val="4"/>
                <c:lvl>
                  <c:pt idx="0">
                    <c:v>SD</c:v>
                  </c:pt>
                  <c:pt idx="1">
                    <c:v>SMP</c:v>
                  </c:pt>
                  <c:pt idx="2">
                    <c:v>SMA</c:v>
                  </c:pt>
                  <c:pt idx="3">
                    <c:v>SMK</c:v>
                  </c:pt>
                </c:lvl>
              </c:multiLvlStrCache>
            </c:multiLvlStrRef>
          </c:cat>
          <c:val>
            <c:numRef>
              <c:f>Sheet1!$B$2:$B$5</c:f>
              <c:numCache>
                <c:formatCode>General</c:formatCode>
                <c:ptCount val="4"/>
                <c:pt idx="0">
                  <c:v>52.93</c:v>
                </c:pt>
                <c:pt idx="1">
                  <c:v>64.1</c:v>
                </c:pt>
                <c:pt idx="2">
                  <c:v>57.45</c:v>
                </c:pt>
                <c:pt idx="3">
                  <c:v>54.91</c:v>
                </c:pt>
              </c:numCache>
            </c:numRef>
          </c:val>
        </c:ser>
        <c:dLbls>
          <c:numFmt formatCode="0.00" sourceLinked="0"/>
          <c:txPr>
            <a:bodyPr/>
            <a:lstStyle/>
            <a:p>
              <a:pPr>
                <a:defRPr b="1" i="0" strike="noStrike" sz="1600" u="none">
                  <a:solidFill>
                    <a:srgbClr val="13213A"/>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13213A"/>
                </a:solidFill>
                <a:latin typeface="Calibri"/>
              </a:defRPr>
            </a:pPr>
            <a:endParaRPr lang="en-US"/>
          </a:p>
        </c:txPr>
        <c:crossAx val="2094734552"/>
        <c:crosses val="autoZero"/>
        <c:auto val="1"/>
        <c:lblAlgn val="ctr"/>
        <c:noMultiLvlLbl val="1"/>
      </c:catAx>
      <c:valAx>
        <c:axId val="2094734552"/>
        <c:scaling>
          <c:orientation val="minMax"/>
          <c:max val="7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F6673"/>
                </a:solidFill>
                <a:latin typeface="Calibri"/>
              </a:defRPr>
            </a:pPr>
            <a:r>
              <a:rPr sz="1300" b="0" i="0" u="none" strike="noStrike">
                <a:solidFill>
                  <a:srgbClr val="5F6673"/>
                </a:solidFill>
                <a:latin typeface="Calibri"/>
              </a:rPr>
              <a:t>Kontribusi rata-rata nasional (poin numerasi)</a:t>
            </a:r>
          </a:p>
        </c:rich>
      </c:tx>
      <c:layout/>
      <c:overlay val="0"/>
    </c:title>
    <c:autoTitleDeleted val="0"/>
    <c:plotArea>
      <c:layout/>
      <c:barChart>
        <c:barDir val="bar"/>
        <c:grouping val="clustered"/>
        <c:varyColors val="0"/>
        <c:ser>
          <c:idx val="0"/>
          <c:order val="0"/>
          <c:tx>
            <c:strRef>
              <c:f>Sheet1!$B$1</c:f>
              <c:strCache>
                <c:ptCount val="1"/>
                <c:pt idx="0">
                  <c:v>Kontribusi</c:v>
                </c:pt>
              </c:strCache>
            </c:strRef>
          </c:tx>
          <c:spPr>
            <a:solidFill>
              <a:srgbClr val="1F6FB2"/>
            </a:solidFill>
            <a:effectLst/>
          </c:spPr>
          <c:invertIfNegative val="0"/>
          <c:dLbls>
            <c:numFmt formatCode="0.00" sourceLinked="0"/>
            <c:txPr>
              <a:bodyPr/>
              <a:lstStyle/>
              <a:p>
                <a:pPr>
                  <a:defRPr b="1" i="0" strike="noStrike" sz="1400" u="none">
                    <a:solidFill>
                      <a:srgbClr val="13213A"/>
                    </a:solidFill>
                    <a:latin typeface="Calibri"/>
                  </a:defRPr>
                </a:pPr>
              </a:p>
            </c:txPr>
            <c:showLegendKey val="0"/>
            <c:showVal val="1"/>
            <c:showCatName val="0"/>
            <c:showSerName val="0"/>
            <c:showPercent val="0"/>
            <c:showBubbleSize val="0"/>
            <c:showLeaderLines val="0"/>
          </c:dLbls>
          <c:cat>
            <c:multiLvlStrRef>
              <c:f>Sheet1!$A$2:$A$6</c:f>
              <c:multiLvlStrCache>
                <c:ptCount val="5"/>
                <c:lvl>
                  <c:pt idx="0">
                    <c:v>Iklim keamanan</c:v>
                  </c:pt>
                  <c:pt idx="1">
                    <c:v>Angka putus sekolah</c:v>
                  </c:pt>
                  <c:pt idx="2">
                    <c:v>Air bersih</c:v>
                  </c:pt>
                  <c:pt idx="3">
                    <c:v>Listrik sekolah</c:v>
                  </c:pt>
                  <c:pt idx="4">
                    <c:v>Kualitas pembelajaran</c:v>
                  </c:pt>
                </c:lvl>
              </c:multiLvlStrCache>
            </c:multiLvlStrRef>
          </c:cat>
          <c:val>
            <c:numRef>
              <c:f>Sheet1!$B$2:$B$6</c:f>
              <c:numCache>
                <c:formatCode>General</c:formatCode>
                <c:ptCount val="5"/>
                <c:pt idx="0">
                  <c:v>0.89</c:v>
                </c:pt>
                <c:pt idx="1">
                  <c:v>0.93</c:v>
                </c:pt>
                <c:pt idx="2">
                  <c:v>1.17</c:v>
                </c:pt>
                <c:pt idx="3">
                  <c:v>1.94</c:v>
                </c:pt>
                <c:pt idx="4">
                  <c:v>3.26</c:v>
                </c:pt>
              </c:numCache>
            </c:numRef>
          </c:val>
        </c:ser>
        <c:dLbls>
          <c:numFmt formatCode="0.00" sourceLinked="0"/>
          <c:txPr>
            <a:bodyPr/>
            <a:lstStyle/>
            <a:p>
              <a:pPr>
                <a:defRPr b="1" i="0" strike="noStrike" sz="1400" u="none">
                  <a:solidFill>
                    <a:srgbClr val="13213A"/>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3213A"/>
                </a:solidFill>
                <a:latin typeface="Calibri"/>
              </a:defRPr>
            </a:pPr>
            <a:endParaRPr lang="en-US"/>
          </a:p>
        </c:txPr>
        <c:crossAx val="2094734552"/>
        <c:crosses val="autoZero"/>
        <c:auto val="1"/>
        <c:lblAlgn val="ctr"/>
        <c:noMultiLvlLbl val="1"/>
      </c:catAx>
      <c:valAx>
        <c:axId val="2094734552"/>
        <c:scaling>
          <c:orientation val="minMax"/>
          <c:max val="4"/>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F6673"/>
                </a:solidFill>
                <a:latin typeface="Calibri"/>
              </a:defRPr>
            </a:pPr>
            <a:r>
              <a:rPr sz="1300" b="0" i="0" u="none" strike="noStrike">
                <a:solidFill>
                  <a:srgbClr val="5F6673"/>
                </a:solidFill>
                <a:latin typeface="Calibri"/>
              </a:rPr>
              <a:t>Kenaikan skor numerasi per tipologi (poin)</a:t>
            </a:r>
          </a:p>
        </c:rich>
      </c:tx>
      <c:layout/>
      <c:overlay val="0"/>
    </c:title>
    <c:autoTitleDeleted val="0"/>
    <c:plotArea>
      <c:layout/>
      <c:barChart>
        <c:barDir val="col"/>
        <c:grouping val="clustered"/>
        <c:varyColors val="0"/>
        <c:ser>
          <c:idx val="0"/>
          <c:order val="0"/>
          <c:tx>
            <c:strRef>
              <c:f>Sheet1!$B$1</c:f>
              <c:strCache>
                <c:ptCount val="1"/>
                <c:pt idx="0">
                  <c:v>Infrastruktur dasar</c:v>
                </c:pt>
              </c:strCache>
            </c:strRef>
          </c:tx>
          <c:spPr>
            <a:solidFill>
              <a:srgbClr val="8FB3D6"/>
            </a:solidFill>
            <a:effectLst/>
          </c:spPr>
          <c:invertIfNegative val="0"/>
          <c:dLbls>
            <c:numFmt formatCode="0.00" sourceLinked="0"/>
            <c:txPr>
              <a:bodyPr/>
              <a:lstStyle/>
              <a:p>
                <a:pPr>
                  <a:defRPr b="1" i="0" strike="noStrike" sz="1400" u="none">
                    <a:solidFill>
                      <a:srgbClr val="13213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Paradoks Sarpras</c:v>
                  </c:pt>
                  <c:pt idx="1">
                    <c:v>Afirmasi 3T</c:v>
                  </c:pt>
                  <c:pt idx="2">
                    <c:v>Benchmark Maju</c:v>
                  </c:pt>
                </c:lvl>
              </c:multiLvlStrCache>
            </c:multiLvlStrRef>
          </c:cat>
          <c:val>
            <c:numRef>
              <c:f>Sheet1!$B$2:$B$4</c:f>
              <c:numCache>
                <c:formatCode>General</c:formatCode>
                <c:ptCount val="3"/>
                <c:pt idx="0">
                  <c:v>6</c:v>
                </c:pt>
                <c:pt idx="1">
                  <c:v>4.88</c:v>
                </c:pt>
                <c:pt idx="2">
                  <c:v>3.86</c:v>
                </c:pt>
              </c:numCache>
            </c:numRef>
          </c:val>
        </c:ser>
        <c:ser>
          <c:idx val="1"/>
          <c:order val="1"/>
          <c:tx>
            <c:strRef>
              <c:f>Sheet1!$C$1</c:f>
              <c:strCache>
                <c:ptCount val="1"/>
                <c:pt idx="0">
                  <c:v>Paket terpadu</c:v>
                </c:pt>
              </c:strCache>
            </c:strRef>
          </c:tx>
          <c:spPr>
            <a:solidFill>
              <a:srgbClr val="1F6FB2"/>
            </a:solidFill>
            <a:effectLst/>
          </c:spPr>
          <c:invertIfNegative val="0"/>
          <c:dLbls>
            <c:numFmt formatCode="0.00" sourceLinked="0"/>
            <c:txPr>
              <a:bodyPr/>
              <a:lstStyle/>
              <a:p>
                <a:pPr>
                  <a:defRPr b="1" i="0" strike="noStrike" sz="1400" u="none">
                    <a:solidFill>
                      <a:srgbClr val="13213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Paradoks Sarpras</c:v>
                  </c:pt>
                  <c:pt idx="1">
                    <c:v>Afirmasi 3T</c:v>
                  </c:pt>
                  <c:pt idx="2">
                    <c:v>Benchmark Maju</c:v>
                  </c:pt>
                </c:lvl>
              </c:multiLvlStrCache>
            </c:multiLvlStrRef>
          </c:cat>
          <c:val>
            <c:numRef>
              <c:f>Sheet1!$C$2:$C$4</c:f>
              <c:numCache>
                <c:formatCode>General</c:formatCode>
                <c:ptCount val="3"/>
                <c:pt idx="0">
                  <c:v>7.61</c:v>
                </c:pt>
                <c:pt idx="1">
                  <c:v>6.31</c:v>
                </c:pt>
                <c:pt idx="2">
                  <c:v>6.09</c:v>
                </c:pt>
              </c:numCache>
            </c:numRef>
          </c:val>
        </c:ser>
        <c:dLbls>
          <c:numFmt formatCode="0.00" sourceLinked="0"/>
          <c:txPr>
            <a:bodyPr/>
            <a:lstStyle/>
            <a:p>
              <a:pPr>
                <a:defRPr b="1" i="0" strike="noStrike" sz="1400" u="none">
                  <a:solidFill>
                    <a:srgbClr val="13213A"/>
                  </a:solidFill>
                  <a:latin typeface="Calibri"/>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3213A"/>
                </a:solidFill>
                <a:latin typeface="Calibri"/>
              </a:defRPr>
            </a:pPr>
            <a:endParaRPr lang="en-US"/>
          </a:p>
        </c:txPr>
        <c:crossAx val="2094734552"/>
        <c:crosses val="autoZero"/>
        <c:auto val="1"/>
        <c:lblAlgn val="ctr"/>
        <c:noMultiLvlLbl val="1"/>
      </c:catAx>
      <c:valAx>
        <c:axId val="2094734552"/>
        <c:scaling>
          <c:orientation val="minMax"/>
          <c:max val="9"/>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3213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detik] Selamat pagi/siang, Bapak/Ibu juri. Kami dari Universitas Negeri Surabaya membawakan NUSA-MIPA. Dalam tujuh menit, kami akan menjawab tiga hal: di mana numerasi Indonesia tertinggal, apa yang menyebabkannya, dan kebijakan apa yang paling berdampak. Garis warna di bawah adalah proporsi tiga tipologi wilayah yang akan kami jelaskan.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detik] Masalahnya sederhana tapi serius. Di PISA, skor sains dan membaca Indonesia naik 6 poin, tapi matematika justru turun dari 366 ke 364. Jadi perluasan akses sekolah belum diikuti kemampuan numerasi. Di dalam negeri, ketimpangannya lebar: rata-rata numerasi SD di Jawa 66,48, di luar Jawa 48,85, selisih hampir 18 poin. Karena ketimpangan ini berbeda dari satu wilayah ke wilayah lain, kebijakan yang sama untuk semua daerah tidak akan cukup. Itulah yang kami petakan.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detik] Datanya 2.056 unit: 514 kabupaten/kota dikali empat jenjang, dengan 20 indikator dari Rapor Pendidikan dan Dapodik 2025. Kami menjawab empat pertanyaan berurutan. Pertama, di mana numerasi tertinggal, lewat klasterisasi. Kedua, mengapa di sana, lewat MGWR yang menghitung pengaruh tiap faktor per wilayah. Ketiga, apa penggerak terbesarnya, lewat LightGBM monotonik dan TreeSHAP yang kami uji pada provinsi yang tidak pernah dilihat model. Keempat, apa yang terjadi kalau diintervensi, lewat simulator. Sekarang temuannya.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detik] Temuan pertama: numerasi menggerombol secara geografis. Moran’s I di SD 0,62, SMP 0,55, dan SMA 0,61, semuanya signifikan. Artinya kabupaten yang berdekatan punya capaian mirip, sehingga masalah dan solusinya juga perlu berbasis wilayah. Yang menarik, di SMK pola ini hilang, Moran’s I cuma 0,06. Mutu numerasi SMK tidak ditentukan kedekatan geografis, kemungkinan lebih oleh program keahlian dan industri setempat. Ini kami sebut vocational paradox.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detik] Temuan kedua: dari 215 konfigurasi clustering, wilayah terbagi menjadi tiga tipologi. Biru, Benchmark Maju, 48 persen, rata-rata numerasi 63,6, terpusat di Jawa, Bali, dan kota besar. Kuning, Paradoks Sarpras, 46 persen. Ini temuan kunci: listriknya sudah 93,6 persen, tapi ruang kelas layak hanya 64 persen, rombel padat, dan kesenjangan TIK tinggi, sehingga rata-rata numerasinya cuma 53,3. Oranye, Afirmasi 3T, 5,8 persen, rata-rata 38,3, di Papua, Maluku, dan NTT, dengan kekurangan sarana dasar sekaligus iklim sekolah yang kurang aman. Tiga tipologi berarti tiga resep kebijakan.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detik] Temuan ketiga ada di perpindahan jenjang. Di kabupaten yang sama, numerasi naik 11 poin dari SD ke SMP, kemungkinan karena SMP sudah memakai guru mata pelajaran matematika. Tapi setelah itu turun: 6,65 poin ke SMA dan 9,19 poin ke SMK. Penurunan SMP ke SMA terjadi di 87,2 persen kabupaten/kota, dan SMP ke SMK di 78 persen, jadi ini pola nasional, bukan kasus segelintir daerah. Dugaan kami, siswa melompat ke materi abstrak tanpa fondasi yang kuat, dan di SMK jam matematika tergerus praktik kejuruan.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detik] Temuan keempat dari MGWR: satu kebijakan bisa berdampak sangat berbeda antarwilayah. Kualitas pembelajaran dan iklim keamanan sekolah bekerja di skala nasional, signifikan di semua kabupaten/kota untuk SD, jadi ini fondasi untuk semua daerah. Sebaliknya, listrik sekolah bekerja di skala regional. Di peta kanan, pengaruhnya paling kuat di Jawa dan Sumatera selatan, lalu melemah sampai hampir nol di Indonesia timur. Artinya di timur, menambah listrik saja tidak cukup. Untuk SMP, pengaruh kualitas pembelajaran juga berbeda-beda, koefisiennya dari 1,15 sampai 9,14. Modelnya kuat: Adjusted R² 0,757 dan tetap 0,770 saat divalidasi pada wilayah yang tidak dipakai melatih.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detik] Temuan kelima dari TreeSHAP: apa yang paling menggerakkan numerasi. Secara nasional, kualitas pembelajaran juara jauh, 3,26 poin, disusul listrik sekolah, air bersih, angka putus sekolah, dan iklim keamanan. Kualitas pembelajaran berpengaruh hampir sama di ketiga klaster, jadi ini tuas universal. Tapi lihat wilayah 3T: sensitivitas terhadap iklim kebinekaan 7,7 kali lipat dibanding wilayah benchmark, iklim keamanan 5,1 kali, dan karakter siswa 4 kali. Pesannya: di 3T, rasa aman di sekolah adalah prasyarat. Kurikulum sebagus apa pun tidak akan bekerja kalau siswanya tidak merasa aman. Catatan: model ini kami latih tanpa skor literasi supaya tuas kebijakan yang sebenarnya terlihat.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detik] Sebelum ke simulasi, satu temuan metodologis yang penting buat pengambil kebijakan. Kelas padat banyak ditemui di kota yang nilainya tinggi. Model machine learning biasa membaca itu mentah-mentah, sehingga menyarankan bahwa mengurangi rombel justru menurunkan numerasi, dan pemerataan guru juga diprediksi negatif. Kalau dipakai pemerintah, ini menyesatkan. Kami memasang kendala monotonik: arah pengaruh dikunci sesuai teori pendidikan. Hasilnya, kedua kebijakan itu jadi positif. Dan harganya kecil: R² 0,648, hampir sama dengan model terbaik 0,649, dan tetap 0,577 saat diuji di provinsi yang tidak pernah dilihat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detik] Dengan model monotonik, kami simulasikan lima skenario. Paket terpadu, yang menggabungkan mutu pedagogik, rombel lebih kecil, pemerataan guru, serta listrik dan air bersih minimal 98 persen, diestimasi menaikkan numerasi rata-rata 6,8 poin, dan 97,5 persen unit wilayah-jenjang naik. Kenaikan terbesar ada di wilayah Paradoks Sarpras, 7,61 poin. Infrastruktur dasar saja sudah memberi 6 poin di sana. Satu catatan jujur: ini estimasi dari pola data satu tahun, bukan pembuktian sebab-akibat. Fungsinya untuk memprioritaskan, bukan menjanjikan angka pasti.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detik] Jadi rekomendasinya berbeda per tipologi. Untuk wilayah 3T, mulai dari sekolah aman dan anti-perundungan, bersamaan dengan listrik, air bersih, dan TIK dasar; paket terpadu berpotensi menaikkan 6,3 poin. Untuk wilayah Paradoks Sarpras, prioritas DAK Fisik untuk listrik, air bersih, dan TIK. Ini kelompok terbesar, 948 unit, dengan potensi kenaikan tertinggi, 7,6 poin, dan infrastruktur saja sudah memberi 6 poin. Untuk wilayah Benchmark, fasilitas sudah cukup; tuasnya adalah pemerataan guru, mengurangi kelas padat, dan mencegah putus sekolah.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detik, tanpa demo langsung] Semua temuan tadi kami hilirisasi menjadi platform web NUSA-MIPA di nusa-mipa.vercel.app. Ada lima modul: peta klaster nasional, laboratorium MGWR, diagnostik 360 derajat per kabupaten/kota, simulator what-if, dan matriks rencana aksi untuk 2.056 unit yang bisa diekspor. Tujuannya satu: dinas pendidikan bisa langsung melihat penghambat utama daerahnya dan menguji kebijakan sebelum anggaran dikeluarkan. Kalau ada waktu demo, tunjukkan Simulator: pilih satu kabupaten 3T, naikkan listrik dan iklim keamanan, lihat skornya berubah.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detik] Kesimpulannya: numerasi tidak bisa diperbaiki dengan satu kebijakan untuk semua. Kita sudah tahu di mana: hampir separuh wilayah terjebak paradoks sarpras, dan 5,8 persen butuh afirmasi 3T. Kita tahu apa: pedagogi adalah tuas nasional, listrik dan air bekerja regional, dan rasa aman kunci di 3T. Dan kita punya estimasi berapa: paket terpadu bisa menaikkan 6,8 poin, paling besar di wilayah Paradoks. Terima kasih, kami siap menjawab pertanyaan.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673"/>
                </a:solidFill>
                <a:latin typeface="Calibri" pitchFamily="34" charset="0"/>
                <a:ea typeface="Calibri" pitchFamily="34" charset="-122"/>
                <a:cs typeface="Calibri" pitchFamily="34" charset="-120"/>
              </a:rPr>
              <a:t>NUSA-MIPA · Final DIMAS-TI 2026</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13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731520" y="822960"/>
            <a:ext cx="8229600" cy="365760"/>
          </a:xfrm>
          <a:prstGeom prst="rect">
            <a:avLst/>
          </a:prstGeom>
          <a:noFill/>
          <a:ln/>
        </p:spPr>
        <p:txBody>
          <a:bodyPr wrap="square" lIns="0" tIns="0" rIns="0" bIns="0" rtlCol="0" anchor="ctr"/>
          <a:lstStyle/>
          <a:p>
            <a:pPr indent="0" marL="0">
              <a:buNone/>
            </a:pPr>
            <a:r>
              <a:rPr lang="en-US" sz="1400" b="1" spc="200" kern="0" dirty="0">
                <a:solidFill>
                  <a:srgbClr val="E3A83A"/>
                </a:solidFill>
                <a:latin typeface="Calibri" pitchFamily="34" charset="0"/>
                <a:ea typeface="Calibri" pitchFamily="34" charset="-122"/>
                <a:cs typeface="Calibri" pitchFamily="34" charset="-120"/>
              </a:rPr>
              <a:t>DIMAS-TI 2026 · DIVISI PENAMBANGAN DATA · BABAK FINAL</a:t>
            </a:r>
            <a:endParaRPr lang="en-US" sz="1400" dirty="0"/>
          </a:p>
        </p:txBody>
      </p:sp>
      <p:sp>
        <p:nvSpPr>
          <p:cNvPr id="4" name="Text 1"/>
          <p:cNvSpPr txBox="1"/>
          <p:nvPr/>
        </p:nvSpPr>
        <p:spPr>
          <a:xfrm>
            <a:off x="731520" y="1737360"/>
            <a:ext cx="8229600" cy="1371600"/>
          </a:xfrm>
          <a:prstGeom prst="rect">
            <a:avLst/>
          </a:prstGeom>
          <a:noFill/>
          <a:ln/>
        </p:spPr>
        <p:txBody>
          <a:bodyPr wrap="square" lIns="0" tIns="0" rIns="0" bIns="0" rtlCol="0" anchor="ctr"/>
          <a:lstStyle/>
          <a:p>
            <a:pPr indent="0" marL="0">
              <a:buNone/>
            </a:pPr>
            <a:r>
              <a:rPr lang="en-US" sz="8800" b="1" dirty="0">
                <a:solidFill>
                  <a:srgbClr val="F6F4EF"/>
                </a:solidFill>
                <a:latin typeface="Cambria" pitchFamily="34" charset="0"/>
                <a:ea typeface="Cambria" pitchFamily="34" charset="-122"/>
                <a:cs typeface="Cambria" pitchFamily="34" charset="-120"/>
              </a:rPr>
              <a:t>NUSA-MIPA</a:t>
            </a:r>
            <a:endParaRPr lang="en-US" sz="8800" dirty="0"/>
          </a:p>
        </p:txBody>
      </p:sp>
      <p:sp>
        <p:nvSpPr>
          <p:cNvPr id="5" name="Text 2"/>
          <p:cNvSpPr txBox="1"/>
          <p:nvPr/>
        </p:nvSpPr>
        <p:spPr>
          <a:xfrm>
            <a:off x="731520" y="3291840"/>
            <a:ext cx="7498080" cy="1188720"/>
          </a:xfrm>
          <a:prstGeom prst="rect">
            <a:avLst/>
          </a:prstGeom>
          <a:noFill/>
          <a:ln/>
        </p:spPr>
        <p:txBody>
          <a:bodyPr wrap="square" lIns="0" tIns="0" rIns="0" bIns="0" rtlCol="0" anchor="t"/>
          <a:lstStyle/>
          <a:p>
            <a:pPr indent="0" marL="0">
              <a:buNone/>
            </a:pPr>
            <a:r>
              <a:rPr lang="en-US" sz="2400" dirty="0">
                <a:solidFill>
                  <a:srgbClr val="DCE3EC"/>
                </a:solidFill>
                <a:latin typeface="Calibri" pitchFamily="34" charset="0"/>
                <a:ea typeface="Calibri" pitchFamily="34" charset="-122"/>
                <a:cs typeface="Calibri" pitchFamily="34" charset="-120"/>
              </a:rPr>
              <a:t>Di mana numerasi Indonesia tertinggal, mengapa, dan kebijakan apa yang paling menggerakkannya</a:t>
            </a:r>
            <a:endParaRPr lang="en-US" sz="2400" dirty="0"/>
          </a:p>
        </p:txBody>
      </p:sp>
      <p:sp>
        <p:nvSpPr>
          <p:cNvPr id="6" name="Text 3"/>
          <p:cNvSpPr txBox="1"/>
          <p:nvPr/>
        </p:nvSpPr>
        <p:spPr>
          <a:xfrm>
            <a:off x="731520" y="5303520"/>
            <a:ext cx="8229600" cy="731520"/>
          </a:xfrm>
          <a:prstGeom prst="rect">
            <a:avLst/>
          </a:prstGeom>
          <a:noFill/>
          <a:ln/>
        </p:spPr>
        <p:txBody>
          <a:bodyPr wrap="square" lIns="0" tIns="0" rIns="0" bIns="0" rtlCol="0" anchor="ctr"/>
          <a:lstStyle/>
          <a:p>
            <a:pPr indent="0" marL="0">
              <a:buNone/>
            </a:pPr>
            <a:r>
              <a:rPr lang="en-US" sz="1600" b="1" dirty="0">
                <a:solidFill>
                  <a:srgbClr val="B9C3D3"/>
                </a:solidFill>
                <a:latin typeface="Calibri" pitchFamily="34" charset="0"/>
                <a:ea typeface="Calibri" pitchFamily="34" charset="-122"/>
                <a:cs typeface="Calibri" pitchFamily="34" charset="-120"/>
              </a:rPr>
              <a:t>Horasio Nissi Immanuel · Muhammad Habib Nur Aiman · Ulfa Siti Nuraini</a:t>
            </a:r>
            <a:endParaRPr lang="en-US" sz="1600" dirty="0"/>
          </a:p>
          <a:p>
            <a:pPr indent="0" marL="0">
              <a:buNone/>
            </a:pPr>
            <a:r>
              <a:rPr lang="en-US" sz="1600" dirty="0">
                <a:solidFill>
                  <a:srgbClr val="B9C3D3"/>
                </a:solidFill>
                <a:latin typeface="Calibri" pitchFamily="34" charset="0"/>
                <a:ea typeface="Calibri" pitchFamily="34" charset="-122"/>
                <a:cs typeface="Calibri" pitchFamily="34" charset="-120"/>
              </a:rPr>
              <a:t>Sains Data, Universitas Negeri Surabaya</a:t>
            </a:r>
            <a:endParaRPr lang="en-US" sz="1600" dirty="0"/>
          </a:p>
        </p:txBody>
      </p:sp>
      <p:sp>
        <p:nvSpPr>
          <p:cNvPr id="7" name="SLOT LOGO 1"/>
          <p:cNvSpPr/>
          <p:nvPr/>
        </p:nvSpPr>
        <p:spPr>
          <a:xfrm>
            <a:off x="9326880" y="731520"/>
            <a:ext cx="2103120" cy="2103120"/>
          </a:xfrm>
          <a:prstGeom prst="roundRect">
            <a:avLst>
              <a:gd name="adj" fmla="val 5217"/>
            </a:avLst>
          </a:prstGeom>
          <a:solidFill>
            <a:srgbClr val="EEF1F6"/>
          </a:solidFill>
          <a:ln w="19050">
            <a:solidFill>
              <a:srgbClr val="9AA6B8"/>
            </a:solidFill>
            <a:prstDash val="dash"/>
          </a:ln>
        </p:spPr>
      </p:sp>
      <p:sp>
        <p:nvSpPr>
          <p:cNvPr id="8" name="Text 5"/>
          <p:cNvSpPr txBox="1"/>
          <p:nvPr/>
        </p:nvSpPr>
        <p:spPr>
          <a:xfrm>
            <a:off x="9326880" y="731520"/>
            <a:ext cx="2103120" cy="2103120"/>
          </a:xfrm>
          <a:prstGeom prst="rect">
            <a:avLst/>
          </a:prstGeom>
          <a:noFill/>
          <a:ln/>
        </p:spPr>
        <p:txBody>
          <a:bodyPr wrap="square" lIns="1905" tIns="1905" rIns="1905" bIns="1905" rtlCol="0" anchor="ctr"/>
          <a:lstStyle/>
          <a:p>
            <a:pPr algn="ctr" indent="0" marL="0">
              <a:buNone/>
            </a:pPr>
            <a:r>
              <a:rPr lang="en-US" sz="1200" b="1" dirty="0">
                <a:solidFill>
                  <a:srgbClr val="6B7787"/>
                </a:solidFill>
                <a:latin typeface="Calibri" pitchFamily="34" charset="0"/>
                <a:ea typeface="Calibri" pitchFamily="34" charset="-122"/>
                <a:cs typeface="Calibri" pitchFamily="34" charset="-120"/>
              </a:rPr>
              <a:t>SLOT GAMBAR</a:t>
            </a:r>
            <a:endParaRPr lang="en-US" sz="1200" dirty="0"/>
          </a:p>
          <a:p>
            <a:pPr algn="ctr" indent="0" marL="0">
              <a:buNone/>
            </a:pPr>
            <a:r>
              <a:rPr lang="en-US" sz="1300" dirty="0">
                <a:solidFill>
                  <a:srgbClr val="6B7787"/>
                </a:solidFill>
                <a:latin typeface="Calibri" pitchFamily="34" charset="0"/>
                <a:ea typeface="Calibri" pitchFamily="34" charset="-122"/>
                <a:cs typeface="Calibri" pitchFamily="34" charset="-120"/>
              </a:rPr>
              <a:t>Logo tim / kompetisi</a:t>
            </a:r>
            <a:endParaRPr lang="en-US" sz="1200" dirty="0"/>
          </a:p>
        </p:txBody>
      </p:sp>
      <p:sp>
        <p:nvSpPr>
          <p:cNvPr id="9" name="SLOT LOGO 2"/>
          <p:cNvSpPr/>
          <p:nvPr/>
        </p:nvSpPr>
        <p:spPr>
          <a:xfrm>
            <a:off x="9326880" y="3108960"/>
            <a:ext cx="2103120" cy="2103120"/>
          </a:xfrm>
          <a:prstGeom prst="roundRect">
            <a:avLst>
              <a:gd name="adj" fmla="val 5217"/>
            </a:avLst>
          </a:prstGeom>
          <a:solidFill>
            <a:srgbClr val="EEF1F6"/>
          </a:solidFill>
          <a:ln w="19050">
            <a:solidFill>
              <a:srgbClr val="9AA6B8"/>
            </a:solidFill>
            <a:prstDash val="dash"/>
          </a:ln>
        </p:spPr>
      </p:sp>
      <p:sp>
        <p:nvSpPr>
          <p:cNvPr id="10" name="Text 7"/>
          <p:cNvSpPr txBox="1"/>
          <p:nvPr/>
        </p:nvSpPr>
        <p:spPr>
          <a:xfrm>
            <a:off x="9326880" y="3108960"/>
            <a:ext cx="2103120" cy="2103120"/>
          </a:xfrm>
          <a:prstGeom prst="rect">
            <a:avLst/>
          </a:prstGeom>
          <a:noFill/>
          <a:ln/>
        </p:spPr>
        <p:txBody>
          <a:bodyPr wrap="square" lIns="1905" tIns="1905" rIns="1905" bIns="1905" rtlCol="0" anchor="ctr"/>
          <a:lstStyle/>
          <a:p>
            <a:pPr algn="ctr" indent="0" marL="0">
              <a:buNone/>
            </a:pPr>
            <a:r>
              <a:rPr lang="en-US" sz="1200" b="1" dirty="0">
                <a:solidFill>
                  <a:srgbClr val="6B7787"/>
                </a:solidFill>
                <a:latin typeface="Calibri" pitchFamily="34" charset="0"/>
                <a:ea typeface="Calibri" pitchFamily="34" charset="-122"/>
                <a:cs typeface="Calibri" pitchFamily="34" charset="-120"/>
              </a:rPr>
              <a:t>SLOT GAMBAR</a:t>
            </a:r>
            <a:endParaRPr lang="en-US" sz="1200" dirty="0"/>
          </a:p>
          <a:p>
            <a:pPr algn="ctr" indent="0" marL="0">
              <a:buNone/>
            </a:pPr>
            <a:r>
              <a:rPr lang="en-US" sz="1300" dirty="0">
                <a:solidFill>
                  <a:srgbClr val="6B7787"/>
                </a:solidFill>
                <a:latin typeface="Calibri" pitchFamily="34" charset="0"/>
                <a:ea typeface="Calibri" pitchFamily="34" charset="-122"/>
                <a:cs typeface="Calibri" pitchFamily="34" charset="-120"/>
              </a:rPr>
              <a:t>Logo UNESA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Eyebrow"/>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200" kern="0" dirty="0">
                <a:solidFill>
                  <a:srgbClr val="A9451F"/>
                </a:solidFill>
                <a:latin typeface="Calibri" pitchFamily="34" charset="0"/>
                <a:ea typeface="Calibri" pitchFamily="34" charset="-122"/>
                <a:cs typeface="Calibri" pitchFamily="34" charset="-120"/>
              </a:rPr>
              <a:t>MASALAH</a:t>
            </a:r>
            <a:endParaRPr lang="en-US" sz="1300" dirty="0"/>
          </a:p>
        </p:txBody>
      </p:sp>
      <p:sp>
        <p:nvSpPr>
          <p:cNvPr id="4" name="Judul"/>
          <p:cNvSpPr txBox="1"/>
          <p:nvPr/>
        </p:nvSpPr>
        <p:spPr>
          <a:xfrm>
            <a:off x="548640" y="713232"/>
            <a:ext cx="11064240" cy="868680"/>
          </a:xfrm>
          <a:prstGeom prst="rect">
            <a:avLst/>
          </a:prstGeom>
          <a:noFill/>
          <a:ln/>
        </p:spPr>
        <p:txBody>
          <a:bodyPr wrap="square" lIns="0" tIns="0" rIns="0" bIns="0" rtlCol="0" anchor="t"/>
          <a:lstStyle/>
          <a:p>
            <a:pPr indent="0" marL="0">
              <a:buNone/>
            </a:pPr>
            <a:r>
              <a:rPr lang="en-US" sz="3400" b="1" dirty="0">
                <a:solidFill>
                  <a:srgbClr val="13213A"/>
                </a:solidFill>
                <a:latin typeface="Cambria" pitchFamily="34" charset="0"/>
                <a:ea typeface="Cambria" pitchFamily="34" charset="-122"/>
                <a:cs typeface="Cambria" pitchFamily="34" charset="-120"/>
              </a:rPr>
              <a:t>Akses naik, numerasi tidak ikut naik</a:t>
            </a:r>
            <a:endParaRPr lang="en-US" sz="3400" dirty="0"/>
          </a:p>
        </p:txBody>
      </p:sp>
      <p:sp>
        <p:nvSpPr>
          <p:cNvPr id="5" name="Kartu"/>
          <p:cNvSpPr/>
          <p:nvPr/>
        </p:nvSpPr>
        <p:spPr>
          <a:xfrm>
            <a:off x="548640" y="1828800"/>
            <a:ext cx="5394960" cy="3200400"/>
          </a:xfrm>
          <a:prstGeom prst="roundRect">
            <a:avLst>
              <a:gd name="adj" fmla="val 3429"/>
            </a:avLst>
          </a:prstGeom>
          <a:solidFill>
            <a:srgbClr val="FFFFFF"/>
          </a:solidFill>
          <a:ln w="9525">
            <a:solidFill>
              <a:srgbClr val="DDE2EA"/>
            </a:solidFill>
            <a:prstDash val="solid"/>
          </a:ln>
          <a:effectLst>
            <a:outerShdw sx="100000" sy="100000" kx="0" ky="0" algn="bl" rotWithShape="0" blurRad="101600" dist="25400" dir="5400000">
              <a:srgbClr val="000000">
                <a:alpha val="8000"/>
              </a:srgbClr>
            </a:outerShdw>
          </a:effectLst>
        </p:spPr>
      </p:sp>
      <p:sp>
        <p:nvSpPr>
          <p:cNvPr id="6" name="Kartu"/>
          <p:cNvSpPr/>
          <p:nvPr/>
        </p:nvSpPr>
        <p:spPr>
          <a:xfrm>
            <a:off x="6245352" y="1828800"/>
            <a:ext cx="5394960" cy="3200400"/>
          </a:xfrm>
          <a:prstGeom prst="roundRect">
            <a:avLst>
              <a:gd name="adj" fmla="val 3429"/>
            </a:avLst>
          </a:prstGeom>
          <a:solidFill>
            <a:srgbClr val="FFFFFF"/>
          </a:solidFill>
          <a:ln w="9525">
            <a:solidFill>
              <a:srgbClr val="DDE2EA"/>
            </a:solidFill>
            <a:prstDash val="solid"/>
          </a:ln>
          <a:effectLst>
            <a:outerShdw sx="100000" sy="100000" kx="0" ky="0" algn="bl" rotWithShape="0" blurRad="101600" dist="25400" dir="5400000">
              <a:srgbClr val="000000">
                <a:alpha val="8000"/>
              </a:srgbClr>
            </a:outerShdw>
          </a:effectLst>
        </p:spPr>
      </p:sp>
      <p:sp>
        <p:nvSpPr>
          <p:cNvPr id="7" name="Text 4"/>
          <p:cNvSpPr txBox="1"/>
          <p:nvPr/>
        </p:nvSpPr>
        <p:spPr>
          <a:xfrm>
            <a:off x="914400" y="2057400"/>
            <a:ext cx="4754880" cy="365760"/>
          </a:xfrm>
          <a:prstGeom prst="rect">
            <a:avLst/>
          </a:prstGeom>
          <a:noFill/>
          <a:ln/>
        </p:spPr>
        <p:txBody>
          <a:bodyPr wrap="square" lIns="0" tIns="0" rIns="0" bIns="0" rtlCol="0" anchor="ctr"/>
          <a:lstStyle/>
          <a:p>
            <a:pPr indent="0" marL="0">
              <a:buNone/>
            </a:pPr>
            <a:r>
              <a:rPr lang="en-US" sz="1600" b="1" dirty="0">
                <a:solidFill>
                  <a:srgbClr val="5F6673"/>
                </a:solidFill>
                <a:latin typeface="Calibri" pitchFamily="34" charset="0"/>
                <a:ea typeface="Calibri" pitchFamily="34" charset="-122"/>
                <a:cs typeface="Calibri" pitchFamily="34" charset="-120"/>
              </a:rPr>
              <a:t>PISA matematika Indonesia</a:t>
            </a:r>
            <a:endParaRPr lang="en-US" sz="1600" dirty="0"/>
          </a:p>
        </p:txBody>
      </p:sp>
      <p:sp>
        <p:nvSpPr>
          <p:cNvPr id="8" name="Text 5"/>
          <p:cNvSpPr txBox="1"/>
          <p:nvPr/>
        </p:nvSpPr>
        <p:spPr>
          <a:xfrm>
            <a:off x="914400" y="2560320"/>
            <a:ext cx="4754880" cy="1005840"/>
          </a:xfrm>
          <a:prstGeom prst="rect">
            <a:avLst/>
          </a:prstGeom>
          <a:noFill/>
          <a:ln/>
        </p:spPr>
        <p:txBody>
          <a:bodyPr wrap="square" lIns="0" tIns="0" rIns="0" bIns="0" rtlCol="0" anchor="ctr"/>
          <a:lstStyle/>
          <a:p>
            <a:pPr indent="0" marL="0">
              <a:buNone/>
            </a:pPr>
            <a:r>
              <a:rPr lang="en-US" sz="6000" b="1" dirty="0">
                <a:solidFill>
                  <a:srgbClr val="A9451F"/>
                </a:solidFill>
                <a:latin typeface="Cambria" pitchFamily="34" charset="0"/>
                <a:ea typeface="Cambria" pitchFamily="34" charset="-122"/>
                <a:cs typeface="Cambria" pitchFamily="34" charset="-120"/>
              </a:rPr>
              <a:t>366 → 364</a:t>
            </a:r>
            <a:endParaRPr lang="en-US" sz="6000" dirty="0"/>
          </a:p>
        </p:txBody>
      </p:sp>
      <p:sp>
        <p:nvSpPr>
          <p:cNvPr id="9" name="Text 6"/>
          <p:cNvSpPr txBox="1"/>
          <p:nvPr/>
        </p:nvSpPr>
        <p:spPr>
          <a:xfrm>
            <a:off x="914400" y="3749040"/>
            <a:ext cx="4663440" cy="1097280"/>
          </a:xfrm>
          <a:prstGeom prst="rect">
            <a:avLst/>
          </a:prstGeom>
          <a:noFill/>
          <a:ln/>
        </p:spPr>
        <p:txBody>
          <a:bodyPr wrap="square" lIns="0" tIns="0" rIns="0" bIns="0" rtlCol="0" anchor="t"/>
          <a:lstStyle/>
          <a:p>
            <a:pPr indent="0" marL="0">
              <a:buNone/>
            </a:pPr>
            <a:r>
              <a:rPr lang="en-US" sz="1800" dirty="0">
                <a:solidFill>
                  <a:srgbClr val="13213A"/>
                </a:solidFill>
                <a:latin typeface="Calibri" pitchFamily="34" charset="0"/>
                <a:ea typeface="Calibri" pitchFamily="34" charset="-122"/>
                <a:cs typeface="Calibri" pitchFamily="34" charset="-120"/>
              </a:rPr>
              <a:t>Sains dan membaca masing-masing naik 6 poin, tetapi matematika justru turun 2 poin.</a:t>
            </a:r>
            <a:endParaRPr lang="en-US" sz="1800" dirty="0"/>
          </a:p>
        </p:txBody>
      </p:sp>
      <p:sp>
        <p:nvSpPr>
          <p:cNvPr id="10" name="Text 7"/>
          <p:cNvSpPr txBox="1"/>
          <p:nvPr/>
        </p:nvSpPr>
        <p:spPr>
          <a:xfrm>
            <a:off x="6611112" y="2057400"/>
            <a:ext cx="4754880" cy="365760"/>
          </a:xfrm>
          <a:prstGeom prst="rect">
            <a:avLst/>
          </a:prstGeom>
          <a:noFill/>
          <a:ln/>
        </p:spPr>
        <p:txBody>
          <a:bodyPr wrap="square" lIns="0" tIns="0" rIns="0" bIns="0" rtlCol="0" anchor="ctr"/>
          <a:lstStyle/>
          <a:p>
            <a:pPr indent="0" marL="0">
              <a:buNone/>
            </a:pPr>
            <a:r>
              <a:rPr lang="en-US" sz="1600" b="1" dirty="0">
                <a:solidFill>
                  <a:srgbClr val="5F6673"/>
                </a:solidFill>
                <a:latin typeface="Calibri" pitchFamily="34" charset="0"/>
                <a:ea typeface="Calibri" pitchFamily="34" charset="-122"/>
                <a:cs typeface="Calibri" pitchFamily="34" charset="-120"/>
              </a:rPr>
              <a:t>Selisih numerasi SD, Jawa vs luar Jawa (poin)</a:t>
            </a:r>
            <a:endParaRPr lang="en-US" sz="1600" dirty="0"/>
          </a:p>
        </p:txBody>
      </p:sp>
      <p:sp>
        <p:nvSpPr>
          <p:cNvPr id="11" name="Text 8"/>
          <p:cNvSpPr txBox="1"/>
          <p:nvPr/>
        </p:nvSpPr>
        <p:spPr>
          <a:xfrm>
            <a:off x="6611112" y="2560320"/>
            <a:ext cx="4754880" cy="1005840"/>
          </a:xfrm>
          <a:prstGeom prst="rect">
            <a:avLst/>
          </a:prstGeom>
          <a:noFill/>
          <a:ln/>
        </p:spPr>
        <p:txBody>
          <a:bodyPr wrap="square" lIns="0" tIns="0" rIns="0" bIns="0" rtlCol="0" anchor="ctr"/>
          <a:lstStyle/>
          <a:p>
            <a:pPr indent="0" marL="0">
              <a:buNone/>
            </a:pPr>
            <a:r>
              <a:rPr lang="en-US" sz="6000" b="1" dirty="0">
                <a:solidFill>
                  <a:srgbClr val="A9451F"/>
                </a:solidFill>
                <a:latin typeface="Cambria" pitchFamily="34" charset="0"/>
                <a:ea typeface="Cambria" pitchFamily="34" charset="-122"/>
                <a:cs typeface="Cambria" pitchFamily="34" charset="-120"/>
              </a:rPr>
              <a:t>17,63</a:t>
            </a:r>
            <a:endParaRPr lang="en-US" sz="6000" dirty="0"/>
          </a:p>
        </p:txBody>
      </p:sp>
      <p:sp>
        <p:nvSpPr>
          <p:cNvPr id="12" name="Text 9"/>
          <p:cNvSpPr txBox="1"/>
          <p:nvPr/>
        </p:nvSpPr>
        <p:spPr>
          <a:xfrm>
            <a:off x="6611112" y="3749040"/>
            <a:ext cx="4663440" cy="1097280"/>
          </a:xfrm>
          <a:prstGeom prst="rect">
            <a:avLst/>
          </a:prstGeom>
          <a:noFill/>
          <a:ln/>
        </p:spPr>
        <p:txBody>
          <a:bodyPr wrap="square" lIns="0" tIns="0" rIns="0" bIns="0" rtlCol="0" anchor="t"/>
          <a:lstStyle/>
          <a:p>
            <a:pPr indent="0" marL="0">
              <a:buNone/>
            </a:pPr>
            <a:r>
              <a:rPr lang="en-US" sz="1800" dirty="0">
                <a:solidFill>
                  <a:srgbClr val="13213A"/>
                </a:solidFill>
                <a:latin typeface="Calibri" pitchFamily="34" charset="0"/>
                <a:ea typeface="Calibri" pitchFamily="34" charset="-122"/>
                <a:cs typeface="Calibri" pitchFamily="34" charset="-120"/>
              </a:rPr>
              <a:t>Jawa 66,48 vs luar Jawa 48,85. Kota juga unggul 8,06 poin atas kabupaten.</a:t>
            </a:r>
            <a:endParaRPr lang="en-US" sz="1800" dirty="0"/>
          </a:p>
        </p:txBody>
      </p:sp>
      <p:sp>
        <p:nvSpPr>
          <p:cNvPr id="13" name="Pesan"/>
          <p:cNvSpPr/>
          <p:nvPr/>
        </p:nvSpPr>
        <p:spPr>
          <a:xfrm>
            <a:off x="548640" y="5257800"/>
            <a:ext cx="11091672" cy="868680"/>
          </a:xfrm>
          <a:prstGeom prst="roundRect">
            <a:avLst>
              <a:gd name="adj" fmla="val 12632"/>
            </a:avLst>
          </a:prstGeom>
          <a:solidFill>
            <a:srgbClr val="13213A"/>
          </a:solidFill>
          <a:ln w="12700">
            <a:solidFill>
              <a:srgbClr val="13213A"/>
            </a:solidFill>
            <a:prstDash val="solid"/>
          </a:ln>
        </p:spPr>
      </p:sp>
      <p:sp>
        <p:nvSpPr>
          <p:cNvPr id="14" name="Text 11"/>
          <p:cNvSpPr txBox="1"/>
          <p:nvPr/>
        </p:nvSpPr>
        <p:spPr>
          <a:xfrm>
            <a:off x="868680" y="5257800"/>
            <a:ext cx="10424160" cy="868680"/>
          </a:xfrm>
          <a:prstGeom prst="rect">
            <a:avLst/>
          </a:prstGeom>
          <a:noFill/>
          <a:ln/>
        </p:spPr>
        <p:txBody>
          <a:bodyPr wrap="square" lIns="0" tIns="0" rIns="0" bIns="0" rtlCol="0" anchor="ctr"/>
          <a:lstStyle/>
          <a:p>
            <a:pPr indent="0" marL="0">
              <a:buNone/>
            </a:pPr>
            <a:r>
              <a:rPr lang="en-US" sz="2000" b="1" dirty="0">
                <a:solidFill>
                  <a:srgbClr val="F6F4EF"/>
                </a:solidFill>
                <a:latin typeface="Calibri" pitchFamily="34" charset="0"/>
                <a:ea typeface="Calibri" pitchFamily="34" charset="-122"/>
                <a:cs typeface="Calibri" pitchFamily="34" charset="-120"/>
              </a:rPr>
              <a:t>Ketimpangannya berbeda di tiap wilayah, jadi kebijakan yang seragam dari pusat tidak cukup.</a:t>
            </a:r>
            <a:endParaRPr lang="en-US" sz="2000" dirty="0"/>
          </a:p>
        </p:txBody>
      </p:sp>
      <p:sp>
        <p:nvSpPr>
          <p:cNvPr id="15" name="Text 12"/>
          <p:cNvSpPr txBox="1"/>
          <p:nvPr/>
        </p:nvSpPr>
        <p:spPr>
          <a:xfrm>
            <a:off x="7315200" y="6172200"/>
            <a:ext cx="4297680" cy="228600"/>
          </a:xfrm>
          <a:prstGeom prst="rect">
            <a:avLst/>
          </a:prstGeom>
          <a:noFill/>
          <a:ln/>
        </p:spPr>
        <p:txBody>
          <a:bodyPr wrap="square" lIns="0" tIns="0" rIns="0" bIns="0" rtlCol="0" anchor="ctr"/>
          <a:lstStyle/>
          <a:p>
            <a:pPr algn="r" indent="0" marL="0">
              <a:buNone/>
            </a:pPr>
            <a:r>
              <a:rPr lang="en-US" sz="1000" dirty="0">
                <a:solidFill>
                  <a:srgbClr val="5F6673"/>
                </a:solidFill>
                <a:latin typeface="Calibri" pitchFamily="34" charset="0"/>
                <a:ea typeface="Calibri" pitchFamily="34" charset="-122"/>
                <a:cs typeface="Calibri" pitchFamily="34" charset="-120"/>
              </a:rPr>
              <a:t>Sumber: OECD PISA 2022; Rapor Pendidikan 2025, olahan tim</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Eyebrow"/>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200" kern="0" dirty="0">
                <a:solidFill>
                  <a:srgbClr val="A9451F"/>
                </a:solidFill>
                <a:latin typeface="Calibri" pitchFamily="34" charset="0"/>
                <a:ea typeface="Calibri" pitchFamily="34" charset="-122"/>
                <a:cs typeface="Calibri" pitchFamily="34" charset="-120"/>
              </a:rPr>
              <a:t>PENDEKATAN</a:t>
            </a:r>
            <a:endParaRPr lang="en-US" sz="1300" dirty="0"/>
          </a:p>
        </p:txBody>
      </p:sp>
      <p:sp>
        <p:nvSpPr>
          <p:cNvPr id="4" name="Judul"/>
          <p:cNvSpPr txBox="1"/>
          <p:nvPr/>
        </p:nvSpPr>
        <p:spPr>
          <a:xfrm>
            <a:off x="548640" y="713232"/>
            <a:ext cx="11064240" cy="868680"/>
          </a:xfrm>
          <a:prstGeom prst="rect">
            <a:avLst/>
          </a:prstGeom>
          <a:noFill/>
          <a:ln/>
        </p:spPr>
        <p:txBody>
          <a:bodyPr wrap="square" lIns="0" tIns="0" rIns="0" bIns="0" rtlCol="0" anchor="t"/>
          <a:lstStyle/>
          <a:p>
            <a:pPr indent="0" marL="0">
              <a:buNone/>
            </a:pPr>
            <a:r>
              <a:rPr lang="en-US" sz="3400" b="1" dirty="0">
                <a:solidFill>
                  <a:srgbClr val="13213A"/>
                </a:solidFill>
                <a:latin typeface="Cambria" pitchFamily="34" charset="0"/>
                <a:ea typeface="Cambria" pitchFamily="34" charset="-122"/>
                <a:cs typeface="Cambria" pitchFamily="34" charset="-120"/>
              </a:rPr>
              <a:t>Satu kerangka, empat pertanyaan</a:t>
            </a:r>
            <a:endParaRPr lang="en-US" sz="3400" dirty="0"/>
          </a:p>
        </p:txBody>
      </p:sp>
      <p:sp>
        <p:nvSpPr>
          <p:cNvPr id="5" name="Data"/>
          <p:cNvSpPr/>
          <p:nvPr/>
        </p:nvSpPr>
        <p:spPr>
          <a:xfrm>
            <a:off x="548640" y="1828800"/>
            <a:ext cx="3657600" cy="4206240"/>
          </a:xfrm>
          <a:prstGeom prst="roundRect">
            <a:avLst>
              <a:gd name="adj" fmla="val 3000"/>
            </a:avLst>
          </a:prstGeom>
          <a:solidFill>
            <a:srgbClr val="13213A"/>
          </a:solidFill>
          <a:ln w="12700">
            <a:solidFill>
              <a:srgbClr val="13213A"/>
            </a:solidFill>
            <a:prstDash val="solid"/>
          </a:ln>
        </p:spPr>
      </p:sp>
      <p:sp>
        <p:nvSpPr>
          <p:cNvPr id="6" name="Text 3"/>
          <p:cNvSpPr txBox="1"/>
          <p:nvPr/>
        </p:nvSpPr>
        <p:spPr>
          <a:xfrm>
            <a:off x="822960" y="2286000"/>
            <a:ext cx="3108960" cy="822960"/>
          </a:xfrm>
          <a:prstGeom prst="rect">
            <a:avLst/>
          </a:prstGeom>
          <a:noFill/>
          <a:ln/>
        </p:spPr>
        <p:txBody>
          <a:bodyPr wrap="square" lIns="0" tIns="0" rIns="0" bIns="0" rtlCol="0" anchor="ctr"/>
          <a:lstStyle/>
          <a:p>
            <a:pPr indent="0" marL="0">
              <a:buNone/>
            </a:pPr>
            <a:r>
              <a:rPr lang="en-US" sz="4400" b="1" dirty="0">
                <a:solidFill>
                  <a:srgbClr val="F6F4EF"/>
                </a:solidFill>
                <a:latin typeface="Cambria" pitchFamily="34" charset="0"/>
                <a:ea typeface="Cambria" pitchFamily="34" charset="-122"/>
                <a:cs typeface="Cambria" pitchFamily="34" charset="-120"/>
              </a:rPr>
              <a:t>2.056 unit</a:t>
            </a:r>
            <a:endParaRPr lang="en-US" sz="4400" dirty="0"/>
          </a:p>
        </p:txBody>
      </p:sp>
      <p:sp>
        <p:nvSpPr>
          <p:cNvPr id="7" name="Text 4"/>
          <p:cNvSpPr txBox="1"/>
          <p:nvPr/>
        </p:nvSpPr>
        <p:spPr>
          <a:xfrm>
            <a:off x="822960" y="3291840"/>
            <a:ext cx="3108960" cy="2377440"/>
          </a:xfrm>
          <a:prstGeom prst="rect">
            <a:avLst/>
          </a:prstGeom>
          <a:noFill/>
          <a:ln/>
        </p:spPr>
        <p:txBody>
          <a:bodyPr wrap="square" lIns="0" tIns="0" rIns="0" bIns="0" rtlCol="0" anchor="t"/>
          <a:lstStyle/>
          <a:p>
            <a:pPr indent="0" marL="0">
              <a:buNone/>
            </a:pPr>
            <a:r>
              <a:rPr lang="en-US" sz="1800" dirty="0">
                <a:solidFill>
                  <a:srgbClr val="DCE3EC"/>
                </a:solidFill>
                <a:latin typeface="Calibri" pitchFamily="34" charset="0"/>
                <a:ea typeface="Calibri" pitchFamily="34" charset="-122"/>
                <a:cs typeface="Calibri" pitchFamily="34" charset="-120"/>
              </a:rPr>
              <a:t>514 kabupaten/kota × 4 jenjang (SD, SMP, SMA, SMK), dengan 20 indikator Rapor Pendidikan dan Dapodik 2025.</a:t>
            </a:r>
            <a:endParaRPr lang="en-US" sz="1800" dirty="0"/>
          </a:p>
        </p:txBody>
      </p:sp>
      <p:sp>
        <p:nvSpPr>
          <p:cNvPr id="8" name="Kartu"/>
          <p:cNvSpPr/>
          <p:nvPr/>
        </p:nvSpPr>
        <p:spPr>
          <a:xfrm>
            <a:off x="4480560" y="1828800"/>
            <a:ext cx="3502152" cy="2011680"/>
          </a:xfrm>
          <a:prstGeom prst="roundRect">
            <a:avLst>
              <a:gd name="adj" fmla="val 5455"/>
            </a:avLst>
          </a:prstGeom>
          <a:solidFill>
            <a:srgbClr val="FFFFFF"/>
          </a:solidFill>
          <a:ln w="9525">
            <a:solidFill>
              <a:srgbClr val="DDE2EA"/>
            </a:solidFill>
            <a:prstDash val="solid"/>
          </a:ln>
          <a:effectLst>
            <a:outerShdw sx="100000" sy="100000" kx="0" ky="0" algn="bl" rotWithShape="0" blurRad="101600" dist="25400" dir="5400000">
              <a:srgbClr val="000000">
                <a:alpha val="8000"/>
              </a:srgbClr>
            </a:outerShdw>
          </a:effectLst>
        </p:spPr>
      </p:sp>
      <p:sp>
        <p:nvSpPr>
          <p:cNvPr id="9" name="Penanda"/>
          <p:cNvSpPr/>
          <p:nvPr/>
        </p:nvSpPr>
        <p:spPr>
          <a:xfrm>
            <a:off x="4754880" y="2103120"/>
            <a:ext cx="502920" cy="502920"/>
          </a:xfrm>
          <a:prstGeom prst="ellipse">
            <a:avLst/>
          </a:prstGeom>
          <a:solidFill>
            <a:srgbClr val="1F6FB2"/>
          </a:solidFill>
          <a:ln w="12700">
            <a:solidFill>
              <a:srgbClr val="1F6FB2"/>
            </a:solidFill>
            <a:prstDash val="solid"/>
          </a:ln>
        </p:spPr>
      </p:sp>
      <p:sp>
        <p:nvSpPr>
          <p:cNvPr id="10" name="Text 7"/>
          <p:cNvSpPr txBox="1"/>
          <p:nvPr/>
        </p:nvSpPr>
        <p:spPr>
          <a:xfrm>
            <a:off x="4754880" y="21031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8"/>
          <p:cNvSpPr txBox="1"/>
          <p:nvPr/>
        </p:nvSpPr>
        <p:spPr>
          <a:xfrm>
            <a:off x="4754880" y="2743200"/>
            <a:ext cx="3017520" cy="411480"/>
          </a:xfrm>
          <a:prstGeom prst="rect">
            <a:avLst/>
          </a:prstGeom>
          <a:noFill/>
          <a:ln/>
        </p:spPr>
        <p:txBody>
          <a:bodyPr wrap="square" lIns="0" tIns="0" rIns="0" bIns="0" rtlCol="0" anchor="ctr"/>
          <a:lstStyle/>
          <a:p>
            <a:pPr indent="0" marL="0">
              <a:buNone/>
            </a:pPr>
            <a:r>
              <a:rPr lang="en-US" sz="1900" b="1" dirty="0">
                <a:solidFill>
                  <a:srgbClr val="13213A"/>
                </a:solidFill>
                <a:latin typeface="Cambria" pitchFamily="34" charset="0"/>
                <a:ea typeface="Cambria" pitchFamily="34" charset="-122"/>
                <a:cs typeface="Cambria" pitchFamily="34" charset="-120"/>
              </a:rPr>
              <a:t>Di mana tertinggal?</a:t>
            </a:r>
            <a:endParaRPr lang="en-US" sz="1900" dirty="0"/>
          </a:p>
        </p:txBody>
      </p:sp>
      <p:sp>
        <p:nvSpPr>
          <p:cNvPr id="12" name="Text 9"/>
          <p:cNvSpPr txBox="1"/>
          <p:nvPr/>
        </p:nvSpPr>
        <p:spPr>
          <a:xfrm>
            <a:off x="4754880" y="3154680"/>
            <a:ext cx="3017520" cy="640080"/>
          </a:xfrm>
          <a:prstGeom prst="rect">
            <a:avLst/>
          </a:prstGeom>
          <a:noFill/>
          <a:ln/>
        </p:spPr>
        <p:txBody>
          <a:bodyPr wrap="square" lIns="0" tIns="0" rIns="0" bIns="0" rtlCol="0" anchor="t"/>
          <a:lstStyle/>
          <a:p>
            <a:pPr indent="0" marL="0">
              <a:buNone/>
            </a:pPr>
            <a:r>
              <a:rPr lang="en-US" sz="1400" dirty="0">
                <a:solidFill>
                  <a:srgbClr val="5F6673"/>
                </a:solidFill>
                <a:latin typeface="Calibri" pitchFamily="34" charset="0"/>
                <a:ea typeface="Calibri" pitchFamily="34" charset="-122"/>
                <a:cs typeface="Calibri" pitchFamily="34" charset="-120"/>
              </a:rPr>
              <a:t>Klaster tipologi IPO, 215 konfigurasi diuji</a:t>
            </a:r>
            <a:endParaRPr lang="en-US" sz="1400" dirty="0"/>
          </a:p>
        </p:txBody>
      </p:sp>
      <p:sp>
        <p:nvSpPr>
          <p:cNvPr id="13" name="Kartu"/>
          <p:cNvSpPr/>
          <p:nvPr/>
        </p:nvSpPr>
        <p:spPr>
          <a:xfrm>
            <a:off x="8138160" y="1828800"/>
            <a:ext cx="3502152" cy="2011680"/>
          </a:xfrm>
          <a:prstGeom prst="roundRect">
            <a:avLst>
              <a:gd name="adj" fmla="val 5455"/>
            </a:avLst>
          </a:prstGeom>
          <a:solidFill>
            <a:srgbClr val="FFFFFF"/>
          </a:solidFill>
          <a:ln w="9525">
            <a:solidFill>
              <a:srgbClr val="DDE2EA"/>
            </a:solidFill>
            <a:prstDash val="solid"/>
          </a:ln>
          <a:effectLst>
            <a:outerShdw sx="100000" sy="100000" kx="0" ky="0" algn="bl" rotWithShape="0" blurRad="101600" dist="25400" dir="5400000">
              <a:srgbClr val="000000">
                <a:alpha val="8000"/>
              </a:srgbClr>
            </a:outerShdw>
          </a:effectLst>
        </p:spPr>
      </p:sp>
      <p:sp>
        <p:nvSpPr>
          <p:cNvPr id="14" name="Penanda"/>
          <p:cNvSpPr/>
          <p:nvPr/>
        </p:nvSpPr>
        <p:spPr>
          <a:xfrm>
            <a:off x="8412480" y="2103120"/>
            <a:ext cx="502920" cy="502920"/>
          </a:xfrm>
          <a:prstGeom prst="ellipse">
            <a:avLst/>
          </a:prstGeom>
          <a:solidFill>
            <a:srgbClr val="D99A1E"/>
          </a:solidFill>
          <a:ln w="12700">
            <a:solidFill>
              <a:srgbClr val="D99A1E"/>
            </a:solidFill>
            <a:prstDash val="solid"/>
          </a:ln>
        </p:spPr>
      </p:sp>
      <p:sp>
        <p:nvSpPr>
          <p:cNvPr id="15" name="Text 12"/>
          <p:cNvSpPr txBox="1"/>
          <p:nvPr/>
        </p:nvSpPr>
        <p:spPr>
          <a:xfrm>
            <a:off x="8412480" y="21031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3"/>
          <p:cNvSpPr txBox="1"/>
          <p:nvPr/>
        </p:nvSpPr>
        <p:spPr>
          <a:xfrm>
            <a:off x="8412480" y="2743200"/>
            <a:ext cx="3017520" cy="411480"/>
          </a:xfrm>
          <a:prstGeom prst="rect">
            <a:avLst/>
          </a:prstGeom>
          <a:noFill/>
          <a:ln/>
        </p:spPr>
        <p:txBody>
          <a:bodyPr wrap="square" lIns="0" tIns="0" rIns="0" bIns="0" rtlCol="0" anchor="ctr"/>
          <a:lstStyle/>
          <a:p>
            <a:pPr indent="0" marL="0">
              <a:buNone/>
            </a:pPr>
            <a:r>
              <a:rPr lang="en-US" sz="1900" b="1" dirty="0">
                <a:solidFill>
                  <a:srgbClr val="13213A"/>
                </a:solidFill>
                <a:latin typeface="Cambria" pitchFamily="34" charset="0"/>
                <a:ea typeface="Cambria" pitchFamily="34" charset="-122"/>
                <a:cs typeface="Cambria" pitchFamily="34" charset="-120"/>
              </a:rPr>
              <a:t>Mengapa di sana?</a:t>
            </a:r>
            <a:endParaRPr lang="en-US" sz="1900" dirty="0"/>
          </a:p>
        </p:txBody>
      </p:sp>
      <p:sp>
        <p:nvSpPr>
          <p:cNvPr id="17" name="Text 14"/>
          <p:cNvSpPr txBox="1"/>
          <p:nvPr/>
        </p:nvSpPr>
        <p:spPr>
          <a:xfrm>
            <a:off x="8412480" y="3154680"/>
            <a:ext cx="3017520" cy="640080"/>
          </a:xfrm>
          <a:prstGeom prst="rect">
            <a:avLst/>
          </a:prstGeom>
          <a:noFill/>
          <a:ln/>
        </p:spPr>
        <p:txBody>
          <a:bodyPr wrap="square" lIns="0" tIns="0" rIns="0" bIns="0" rtlCol="0" anchor="t"/>
          <a:lstStyle/>
          <a:p>
            <a:pPr indent="0" marL="0">
              <a:buNone/>
            </a:pPr>
            <a:r>
              <a:rPr lang="en-US" sz="1400" dirty="0">
                <a:solidFill>
                  <a:srgbClr val="5F6673"/>
                </a:solidFill>
                <a:latin typeface="Calibri" pitchFamily="34" charset="0"/>
                <a:ea typeface="Calibri" pitchFamily="34" charset="-122"/>
                <a:cs typeface="Calibri" pitchFamily="34" charset="-120"/>
              </a:rPr>
              <a:t>MGWR: pengaruh tiap faktor dihitung per wilayah</a:t>
            </a:r>
            <a:endParaRPr lang="en-US" sz="1400" dirty="0"/>
          </a:p>
        </p:txBody>
      </p:sp>
      <p:sp>
        <p:nvSpPr>
          <p:cNvPr id="18" name="Kartu"/>
          <p:cNvSpPr/>
          <p:nvPr/>
        </p:nvSpPr>
        <p:spPr>
          <a:xfrm>
            <a:off x="4480560" y="4023360"/>
            <a:ext cx="3502152" cy="2011680"/>
          </a:xfrm>
          <a:prstGeom prst="roundRect">
            <a:avLst>
              <a:gd name="adj" fmla="val 5455"/>
            </a:avLst>
          </a:prstGeom>
          <a:solidFill>
            <a:srgbClr val="FFFFFF"/>
          </a:solidFill>
          <a:ln w="9525">
            <a:solidFill>
              <a:srgbClr val="DDE2EA"/>
            </a:solidFill>
            <a:prstDash val="solid"/>
          </a:ln>
          <a:effectLst>
            <a:outerShdw sx="100000" sy="100000" kx="0" ky="0" algn="bl" rotWithShape="0" blurRad="101600" dist="25400" dir="5400000">
              <a:srgbClr val="000000">
                <a:alpha val="8000"/>
              </a:srgbClr>
            </a:outerShdw>
          </a:effectLst>
        </p:spPr>
      </p:sp>
      <p:sp>
        <p:nvSpPr>
          <p:cNvPr id="19" name="Penanda"/>
          <p:cNvSpPr/>
          <p:nvPr/>
        </p:nvSpPr>
        <p:spPr>
          <a:xfrm>
            <a:off x="4754880" y="4297680"/>
            <a:ext cx="502920" cy="502920"/>
          </a:xfrm>
          <a:prstGeom prst="ellipse">
            <a:avLst/>
          </a:prstGeom>
          <a:solidFill>
            <a:srgbClr val="C4532A"/>
          </a:solidFill>
          <a:ln w="12700">
            <a:solidFill>
              <a:srgbClr val="C4532A"/>
            </a:solidFill>
            <a:prstDash val="solid"/>
          </a:ln>
        </p:spPr>
      </p:sp>
      <p:sp>
        <p:nvSpPr>
          <p:cNvPr id="20" name="Text 17"/>
          <p:cNvSpPr txBox="1"/>
          <p:nvPr/>
        </p:nvSpPr>
        <p:spPr>
          <a:xfrm>
            <a:off x="4754880" y="4297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8"/>
          <p:cNvSpPr txBox="1"/>
          <p:nvPr/>
        </p:nvSpPr>
        <p:spPr>
          <a:xfrm>
            <a:off x="4754880" y="4937760"/>
            <a:ext cx="3017520" cy="411480"/>
          </a:xfrm>
          <a:prstGeom prst="rect">
            <a:avLst/>
          </a:prstGeom>
          <a:noFill/>
          <a:ln/>
        </p:spPr>
        <p:txBody>
          <a:bodyPr wrap="square" lIns="0" tIns="0" rIns="0" bIns="0" rtlCol="0" anchor="ctr"/>
          <a:lstStyle/>
          <a:p>
            <a:pPr indent="0" marL="0">
              <a:buNone/>
            </a:pPr>
            <a:r>
              <a:rPr lang="en-US" sz="1900" b="1" dirty="0">
                <a:solidFill>
                  <a:srgbClr val="13213A"/>
                </a:solidFill>
                <a:latin typeface="Cambria" pitchFamily="34" charset="0"/>
                <a:ea typeface="Cambria" pitchFamily="34" charset="-122"/>
                <a:cs typeface="Cambria" pitchFamily="34" charset="-120"/>
              </a:rPr>
              <a:t>Apa penggerak terbesar?</a:t>
            </a:r>
            <a:endParaRPr lang="en-US" sz="1900" dirty="0"/>
          </a:p>
        </p:txBody>
      </p:sp>
      <p:sp>
        <p:nvSpPr>
          <p:cNvPr id="22" name="Text 19"/>
          <p:cNvSpPr txBox="1"/>
          <p:nvPr/>
        </p:nvSpPr>
        <p:spPr>
          <a:xfrm>
            <a:off x="4754880" y="5349240"/>
            <a:ext cx="3017520" cy="640080"/>
          </a:xfrm>
          <a:prstGeom prst="rect">
            <a:avLst/>
          </a:prstGeom>
          <a:noFill/>
          <a:ln/>
        </p:spPr>
        <p:txBody>
          <a:bodyPr wrap="square" lIns="0" tIns="0" rIns="0" bIns="0" rtlCol="0" anchor="t"/>
          <a:lstStyle/>
          <a:p>
            <a:pPr indent="0" marL="0">
              <a:buNone/>
            </a:pPr>
            <a:r>
              <a:rPr lang="en-US" sz="1400" dirty="0">
                <a:solidFill>
                  <a:srgbClr val="5F6673"/>
                </a:solidFill>
                <a:latin typeface="Calibri" pitchFamily="34" charset="0"/>
                <a:ea typeface="Calibri" pitchFamily="34" charset="-122"/>
                <a:cs typeface="Calibri" pitchFamily="34" charset="-120"/>
              </a:rPr>
              <a:t>LightGBM monotonik + TreeSHAP, diuji pada provinsi yang tidak dilihat model</a:t>
            </a:r>
            <a:endParaRPr lang="en-US" sz="1400" dirty="0"/>
          </a:p>
        </p:txBody>
      </p:sp>
      <p:sp>
        <p:nvSpPr>
          <p:cNvPr id="23" name="Kartu"/>
          <p:cNvSpPr/>
          <p:nvPr/>
        </p:nvSpPr>
        <p:spPr>
          <a:xfrm>
            <a:off x="8138160" y="4023360"/>
            <a:ext cx="3502152" cy="2011680"/>
          </a:xfrm>
          <a:prstGeom prst="roundRect">
            <a:avLst>
              <a:gd name="adj" fmla="val 5455"/>
            </a:avLst>
          </a:prstGeom>
          <a:solidFill>
            <a:srgbClr val="FFFFFF"/>
          </a:solidFill>
          <a:ln w="9525">
            <a:solidFill>
              <a:srgbClr val="DDE2EA"/>
            </a:solidFill>
            <a:prstDash val="solid"/>
          </a:ln>
          <a:effectLst>
            <a:outerShdw sx="100000" sy="100000" kx="0" ky="0" algn="bl" rotWithShape="0" blurRad="101600" dist="25400" dir="5400000">
              <a:srgbClr val="000000">
                <a:alpha val="8000"/>
              </a:srgbClr>
            </a:outerShdw>
          </a:effectLst>
        </p:spPr>
      </p:sp>
      <p:sp>
        <p:nvSpPr>
          <p:cNvPr id="24" name="Penanda"/>
          <p:cNvSpPr/>
          <p:nvPr/>
        </p:nvSpPr>
        <p:spPr>
          <a:xfrm>
            <a:off x="8412480" y="4297680"/>
            <a:ext cx="502920" cy="502920"/>
          </a:xfrm>
          <a:prstGeom prst="ellipse">
            <a:avLst/>
          </a:prstGeom>
          <a:solidFill>
            <a:srgbClr val="A9451F"/>
          </a:solidFill>
          <a:ln w="12700">
            <a:solidFill>
              <a:srgbClr val="A9451F"/>
            </a:solidFill>
            <a:prstDash val="solid"/>
          </a:ln>
        </p:spPr>
      </p:sp>
      <p:sp>
        <p:nvSpPr>
          <p:cNvPr id="25" name="Text 22"/>
          <p:cNvSpPr txBox="1"/>
          <p:nvPr/>
        </p:nvSpPr>
        <p:spPr>
          <a:xfrm>
            <a:off x="8412480" y="4297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Text 23"/>
          <p:cNvSpPr txBox="1"/>
          <p:nvPr/>
        </p:nvSpPr>
        <p:spPr>
          <a:xfrm>
            <a:off x="8412480" y="4937760"/>
            <a:ext cx="3017520" cy="411480"/>
          </a:xfrm>
          <a:prstGeom prst="rect">
            <a:avLst/>
          </a:prstGeom>
          <a:noFill/>
          <a:ln/>
        </p:spPr>
        <p:txBody>
          <a:bodyPr wrap="square" lIns="0" tIns="0" rIns="0" bIns="0" rtlCol="0" anchor="ctr"/>
          <a:lstStyle/>
          <a:p>
            <a:pPr indent="0" marL="0">
              <a:buNone/>
            </a:pPr>
            <a:r>
              <a:rPr lang="en-US" sz="1900" b="1" dirty="0">
                <a:solidFill>
                  <a:srgbClr val="13213A"/>
                </a:solidFill>
                <a:latin typeface="Cambria" pitchFamily="34" charset="0"/>
                <a:ea typeface="Cambria" pitchFamily="34" charset="-122"/>
                <a:cs typeface="Cambria" pitchFamily="34" charset="-120"/>
              </a:rPr>
              <a:t>Kalau diintervensi?</a:t>
            </a:r>
            <a:endParaRPr lang="en-US" sz="1900" dirty="0"/>
          </a:p>
        </p:txBody>
      </p:sp>
      <p:sp>
        <p:nvSpPr>
          <p:cNvPr id="27" name="Text 24"/>
          <p:cNvSpPr txBox="1"/>
          <p:nvPr/>
        </p:nvSpPr>
        <p:spPr>
          <a:xfrm>
            <a:off x="8412480" y="5349240"/>
            <a:ext cx="3017520" cy="640080"/>
          </a:xfrm>
          <a:prstGeom prst="rect">
            <a:avLst/>
          </a:prstGeom>
          <a:noFill/>
          <a:ln/>
        </p:spPr>
        <p:txBody>
          <a:bodyPr wrap="square" lIns="0" tIns="0" rIns="0" bIns="0" rtlCol="0" anchor="t"/>
          <a:lstStyle/>
          <a:p>
            <a:pPr indent="0" marL="0">
              <a:buNone/>
            </a:pPr>
            <a:r>
              <a:rPr lang="en-US" sz="1400" dirty="0">
                <a:solidFill>
                  <a:srgbClr val="5F6673"/>
                </a:solidFill>
                <a:latin typeface="Calibri" pitchFamily="34" charset="0"/>
                <a:ea typeface="Calibri" pitchFamily="34" charset="-122"/>
                <a:cs typeface="Calibri" pitchFamily="34" charset="-120"/>
              </a:rPr>
              <a:t>Simulator what-if, 5 skenario kebijakan</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Eyebrow"/>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200" kern="0" dirty="0">
                <a:solidFill>
                  <a:srgbClr val="A9451F"/>
                </a:solidFill>
                <a:latin typeface="Calibri" pitchFamily="34" charset="0"/>
                <a:ea typeface="Calibri" pitchFamily="34" charset="-122"/>
                <a:cs typeface="Calibri" pitchFamily="34" charset="-120"/>
              </a:rPr>
              <a:t>TEMUAN 1 · POLA SPASIAL</a:t>
            </a:r>
            <a:endParaRPr lang="en-US" sz="1300" dirty="0"/>
          </a:p>
        </p:txBody>
      </p:sp>
      <p:sp>
        <p:nvSpPr>
          <p:cNvPr id="4" name="Judul"/>
          <p:cNvSpPr txBox="1"/>
          <p:nvPr/>
        </p:nvSpPr>
        <p:spPr>
          <a:xfrm>
            <a:off x="548640" y="713232"/>
            <a:ext cx="11064240" cy="868680"/>
          </a:xfrm>
          <a:prstGeom prst="rect">
            <a:avLst/>
          </a:prstGeom>
          <a:noFill/>
          <a:ln/>
        </p:spPr>
        <p:txBody>
          <a:bodyPr wrap="square" lIns="0" tIns="0" rIns="0" bIns="0" rtlCol="0" anchor="t"/>
          <a:lstStyle/>
          <a:p>
            <a:pPr indent="0" marL="0">
              <a:buNone/>
            </a:pPr>
            <a:r>
              <a:rPr lang="en-US" sz="3400" b="1" dirty="0">
                <a:solidFill>
                  <a:srgbClr val="13213A"/>
                </a:solidFill>
                <a:latin typeface="Cambria" pitchFamily="34" charset="0"/>
                <a:ea typeface="Cambria" pitchFamily="34" charset="-122"/>
                <a:cs typeface="Cambria" pitchFamily="34" charset="-120"/>
              </a:rPr>
              <a:t>Numerasi menggerombol, kecuali di SMK</a:t>
            </a:r>
            <a:endParaRPr lang="en-US" sz="3400" dirty="0"/>
          </a:p>
        </p:txBody>
      </p:sp>
      <p:sp>
        <p:nvSpPr>
          <p:cNvPr id="5" name="Text 2"/>
          <p:cNvSpPr txBox="1"/>
          <p:nvPr/>
        </p:nvSpPr>
        <p:spPr>
          <a:xfrm>
            <a:off x="548640" y="1691640"/>
            <a:ext cx="6858000" cy="320040"/>
          </a:xfrm>
          <a:prstGeom prst="rect">
            <a:avLst/>
          </a:prstGeom>
          <a:noFill/>
          <a:ln/>
        </p:spPr>
        <p:txBody>
          <a:bodyPr wrap="square" lIns="0" tIns="0" rIns="0" bIns="0" rtlCol="0" anchor="ctr"/>
          <a:lstStyle/>
          <a:p>
            <a:pPr indent="0" marL="0">
              <a:buNone/>
            </a:pPr>
            <a:r>
              <a:rPr lang="en-US" sz="1400" b="1" dirty="0">
                <a:solidFill>
                  <a:srgbClr val="5F6673"/>
                </a:solidFill>
                <a:latin typeface="Calibri" pitchFamily="34" charset="0"/>
                <a:ea typeface="Calibri" pitchFamily="34" charset="-122"/>
                <a:cs typeface="Calibri" pitchFamily="34" charset="-120"/>
              </a:rPr>
              <a:t>Moran’s I numerasi per jenjang (k = 8 tetangga, semua p = 0,005)</a:t>
            </a:r>
            <a:endParaRPr lang="en-US" sz="1400" dirty="0"/>
          </a:p>
        </p:txBody>
      </p:sp>
      <p:sp>
        <p:nvSpPr>
          <p:cNvPr id="6" name="Text 3"/>
          <p:cNvSpPr txBox="1"/>
          <p:nvPr/>
        </p:nvSpPr>
        <p:spPr>
          <a:xfrm>
            <a:off x="548640" y="2194560"/>
            <a:ext cx="822960" cy="640080"/>
          </a:xfrm>
          <a:prstGeom prst="rect">
            <a:avLst/>
          </a:prstGeom>
          <a:noFill/>
          <a:ln/>
        </p:spPr>
        <p:txBody>
          <a:bodyPr wrap="square" lIns="0" tIns="0" rIns="0" bIns="0" rtlCol="0" anchor="ctr"/>
          <a:lstStyle/>
          <a:p>
            <a:pPr indent="0" marL="0">
              <a:buNone/>
            </a:pPr>
            <a:r>
              <a:rPr lang="en-US" sz="2400" b="1" dirty="0">
                <a:solidFill>
                  <a:srgbClr val="13213A"/>
                </a:solidFill>
                <a:latin typeface="Cambria" pitchFamily="34" charset="0"/>
                <a:ea typeface="Cambria" pitchFamily="34" charset="-122"/>
                <a:cs typeface="Cambria" pitchFamily="34" charset="-120"/>
              </a:rPr>
              <a:t>SD</a:t>
            </a:r>
            <a:endParaRPr lang="en-US" sz="2400" dirty="0"/>
          </a:p>
        </p:txBody>
      </p:sp>
      <p:sp>
        <p:nvSpPr>
          <p:cNvPr id="7" name="Trek"/>
          <p:cNvSpPr/>
          <p:nvPr/>
        </p:nvSpPr>
        <p:spPr>
          <a:xfrm>
            <a:off x="1463040" y="2304288"/>
            <a:ext cx="3840480" cy="420624"/>
          </a:xfrm>
          <a:prstGeom prst="roundRect">
            <a:avLst>
              <a:gd name="adj" fmla="val 10870"/>
            </a:avLst>
          </a:prstGeom>
          <a:solidFill>
            <a:srgbClr val="E6EAF0"/>
          </a:solidFill>
          <a:ln w="12700">
            <a:solidFill>
              <a:srgbClr val="E6EAF0"/>
            </a:solidFill>
            <a:prstDash val="solid"/>
          </a:ln>
        </p:spPr>
      </p:sp>
      <p:sp>
        <p:nvSpPr>
          <p:cNvPr id="8" name="Bar"/>
          <p:cNvSpPr/>
          <p:nvPr/>
        </p:nvSpPr>
        <p:spPr>
          <a:xfrm>
            <a:off x="1463040" y="2304288"/>
            <a:ext cx="3401568" cy="420624"/>
          </a:xfrm>
          <a:prstGeom prst="roundRect">
            <a:avLst>
              <a:gd name="adj" fmla="val 10870"/>
            </a:avLst>
          </a:prstGeom>
          <a:solidFill>
            <a:srgbClr val="1F6FB2"/>
          </a:solidFill>
          <a:ln w="12700">
            <a:solidFill>
              <a:srgbClr val="1F6FB2"/>
            </a:solidFill>
            <a:prstDash val="solid"/>
          </a:ln>
        </p:spPr>
      </p:sp>
      <p:sp>
        <p:nvSpPr>
          <p:cNvPr id="9" name="Text 6"/>
          <p:cNvSpPr txBox="1"/>
          <p:nvPr/>
        </p:nvSpPr>
        <p:spPr>
          <a:xfrm>
            <a:off x="5440680" y="2194560"/>
            <a:ext cx="822960" cy="640080"/>
          </a:xfrm>
          <a:prstGeom prst="rect">
            <a:avLst/>
          </a:prstGeom>
          <a:noFill/>
          <a:ln/>
        </p:spPr>
        <p:txBody>
          <a:bodyPr wrap="square" lIns="0" tIns="0" rIns="0" bIns="0" rtlCol="0" anchor="ctr"/>
          <a:lstStyle/>
          <a:p>
            <a:pPr indent="0" marL="0">
              <a:buNone/>
            </a:pPr>
            <a:r>
              <a:rPr lang="en-US" sz="2400" b="1" dirty="0">
                <a:solidFill>
                  <a:srgbClr val="1F6FB2"/>
                </a:solidFill>
                <a:latin typeface="Calibri" pitchFamily="34" charset="0"/>
                <a:ea typeface="Calibri" pitchFamily="34" charset="-122"/>
                <a:cs typeface="Calibri" pitchFamily="34" charset="-120"/>
              </a:rPr>
              <a:t>0,62</a:t>
            </a:r>
            <a:endParaRPr lang="en-US" sz="2400" dirty="0"/>
          </a:p>
        </p:txBody>
      </p:sp>
      <p:sp>
        <p:nvSpPr>
          <p:cNvPr id="10" name="Text 7"/>
          <p:cNvSpPr txBox="1"/>
          <p:nvPr/>
        </p:nvSpPr>
        <p:spPr>
          <a:xfrm>
            <a:off x="6263640" y="2194560"/>
            <a:ext cx="1463040" cy="640080"/>
          </a:xfrm>
          <a:prstGeom prst="rect">
            <a:avLst/>
          </a:prstGeom>
          <a:noFill/>
          <a:ln/>
        </p:spPr>
        <p:txBody>
          <a:bodyPr wrap="square" lIns="0" tIns="0" rIns="0" bIns="0" rtlCol="0" anchor="ctr"/>
          <a:lstStyle/>
          <a:p>
            <a:pPr indent="0" marL="0">
              <a:buNone/>
            </a:pPr>
            <a:r>
              <a:rPr lang="en-US" sz="1300" dirty="0">
                <a:solidFill>
                  <a:srgbClr val="5F6673"/>
                </a:solidFill>
                <a:latin typeface="Calibri" pitchFamily="34" charset="0"/>
                <a:ea typeface="Calibri" pitchFamily="34" charset="-122"/>
                <a:cs typeface="Calibri" pitchFamily="34" charset="-120"/>
              </a:rPr>
              <a:t>mengelompok kuat</a:t>
            </a:r>
            <a:endParaRPr lang="en-US" sz="1300" dirty="0"/>
          </a:p>
        </p:txBody>
      </p:sp>
      <p:sp>
        <p:nvSpPr>
          <p:cNvPr id="11" name="Text 8"/>
          <p:cNvSpPr txBox="1"/>
          <p:nvPr/>
        </p:nvSpPr>
        <p:spPr>
          <a:xfrm>
            <a:off x="548640" y="3108960"/>
            <a:ext cx="822960" cy="640080"/>
          </a:xfrm>
          <a:prstGeom prst="rect">
            <a:avLst/>
          </a:prstGeom>
          <a:noFill/>
          <a:ln/>
        </p:spPr>
        <p:txBody>
          <a:bodyPr wrap="square" lIns="0" tIns="0" rIns="0" bIns="0" rtlCol="0" anchor="ctr"/>
          <a:lstStyle/>
          <a:p>
            <a:pPr indent="0" marL="0">
              <a:buNone/>
            </a:pPr>
            <a:r>
              <a:rPr lang="en-US" sz="2400" b="1" dirty="0">
                <a:solidFill>
                  <a:srgbClr val="13213A"/>
                </a:solidFill>
                <a:latin typeface="Cambria" pitchFamily="34" charset="0"/>
                <a:ea typeface="Cambria" pitchFamily="34" charset="-122"/>
                <a:cs typeface="Cambria" pitchFamily="34" charset="-120"/>
              </a:rPr>
              <a:t>SMP</a:t>
            </a:r>
            <a:endParaRPr lang="en-US" sz="2400" dirty="0"/>
          </a:p>
        </p:txBody>
      </p:sp>
      <p:sp>
        <p:nvSpPr>
          <p:cNvPr id="12" name="Trek"/>
          <p:cNvSpPr/>
          <p:nvPr/>
        </p:nvSpPr>
        <p:spPr>
          <a:xfrm>
            <a:off x="1463040" y="3218688"/>
            <a:ext cx="3840480" cy="420624"/>
          </a:xfrm>
          <a:prstGeom prst="roundRect">
            <a:avLst>
              <a:gd name="adj" fmla="val 10870"/>
            </a:avLst>
          </a:prstGeom>
          <a:solidFill>
            <a:srgbClr val="E6EAF0"/>
          </a:solidFill>
          <a:ln w="12700">
            <a:solidFill>
              <a:srgbClr val="E6EAF0"/>
            </a:solidFill>
            <a:prstDash val="solid"/>
          </a:ln>
        </p:spPr>
      </p:sp>
      <p:sp>
        <p:nvSpPr>
          <p:cNvPr id="13" name="Bar"/>
          <p:cNvSpPr/>
          <p:nvPr/>
        </p:nvSpPr>
        <p:spPr>
          <a:xfrm>
            <a:off x="1463040" y="3218688"/>
            <a:ext cx="3017520" cy="420624"/>
          </a:xfrm>
          <a:prstGeom prst="roundRect">
            <a:avLst>
              <a:gd name="adj" fmla="val 10870"/>
            </a:avLst>
          </a:prstGeom>
          <a:solidFill>
            <a:srgbClr val="1F6FB2"/>
          </a:solidFill>
          <a:ln w="12700">
            <a:solidFill>
              <a:srgbClr val="1F6FB2"/>
            </a:solidFill>
            <a:prstDash val="solid"/>
          </a:ln>
        </p:spPr>
      </p:sp>
      <p:sp>
        <p:nvSpPr>
          <p:cNvPr id="14" name="Text 11"/>
          <p:cNvSpPr txBox="1"/>
          <p:nvPr/>
        </p:nvSpPr>
        <p:spPr>
          <a:xfrm>
            <a:off x="5440680" y="3108960"/>
            <a:ext cx="822960" cy="640080"/>
          </a:xfrm>
          <a:prstGeom prst="rect">
            <a:avLst/>
          </a:prstGeom>
          <a:noFill/>
          <a:ln/>
        </p:spPr>
        <p:txBody>
          <a:bodyPr wrap="square" lIns="0" tIns="0" rIns="0" bIns="0" rtlCol="0" anchor="ctr"/>
          <a:lstStyle/>
          <a:p>
            <a:pPr indent="0" marL="0">
              <a:buNone/>
            </a:pPr>
            <a:r>
              <a:rPr lang="en-US" sz="2400" b="1" dirty="0">
                <a:solidFill>
                  <a:srgbClr val="1F6FB2"/>
                </a:solidFill>
                <a:latin typeface="Calibri" pitchFamily="34" charset="0"/>
                <a:ea typeface="Calibri" pitchFamily="34" charset="-122"/>
                <a:cs typeface="Calibri" pitchFamily="34" charset="-120"/>
              </a:rPr>
              <a:t>0,55</a:t>
            </a:r>
            <a:endParaRPr lang="en-US" sz="2400" dirty="0"/>
          </a:p>
        </p:txBody>
      </p:sp>
      <p:sp>
        <p:nvSpPr>
          <p:cNvPr id="15" name="Text 12"/>
          <p:cNvSpPr txBox="1"/>
          <p:nvPr/>
        </p:nvSpPr>
        <p:spPr>
          <a:xfrm>
            <a:off x="6263640" y="3108960"/>
            <a:ext cx="1463040" cy="640080"/>
          </a:xfrm>
          <a:prstGeom prst="rect">
            <a:avLst/>
          </a:prstGeom>
          <a:noFill/>
          <a:ln/>
        </p:spPr>
        <p:txBody>
          <a:bodyPr wrap="square" lIns="0" tIns="0" rIns="0" bIns="0" rtlCol="0" anchor="ctr"/>
          <a:lstStyle/>
          <a:p>
            <a:pPr indent="0" marL="0">
              <a:buNone/>
            </a:pPr>
            <a:r>
              <a:rPr lang="en-US" sz="1300" dirty="0">
                <a:solidFill>
                  <a:srgbClr val="5F6673"/>
                </a:solidFill>
                <a:latin typeface="Calibri" pitchFamily="34" charset="0"/>
                <a:ea typeface="Calibri" pitchFamily="34" charset="-122"/>
                <a:cs typeface="Calibri" pitchFamily="34" charset="-120"/>
              </a:rPr>
              <a:t>mengelompok kuat</a:t>
            </a:r>
            <a:endParaRPr lang="en-US" sz="1300" dirty="0"/>
          </a:p>
        </p:txBody>
      </p:sp>
      <p:sp>
        <p:nvSpPr>
          <p:cNvPr id="16" name="Text 13"/>
          <p:cNvSpPr txBox="1"/>
          <p:nvPr/>
        </p:nvSpPr>
        <p:spPr>
          <a:xfrm>
            <a:off x="548640" y="4023360"/>
            <a:ext cx="822960" cy="640080"/>
          </a:xfrm>
          <a:prstGeom prst="rect">
            <a:avLst/>
          </a:prstGeom>
          <a:noFill/>
          <a:ln/>
        </p:spPr>
        <p:txBody>
          <a:bodyPr wrap="square" lIns="0" tIns="0" rIns="0" bIns="0" rtlCol="0" anchor="ctr"/>
          <a:lstStyle/>
          <a:p>
            <a:pPr indent="0" marL="0">
              <a:buNone/>
            </a:pPr>
            <a:r>
              <a:rPr lang="en-US" sz="2400" b="1" dirty="0">
                <a:solidFill>
                  <a:srgbClr val="13213A"/>
                </a:solidFill>
                <a:latin typeface="Cambria" pitchFamily="34" charset="0"/>
                <a:ea typeface="Cambria" pitchFamily="34" charset="-122"/>
                <a:cs typeface="Cambria" pitchFamily="34" charset="-120"/>
              </a:rPr>
              <a:t>SMA</a:t>
            </a:r>
            <a:endParaRPr lang="en-US" sz="2400" dirty="0"/>
          </a:p>
        </p:txBody>
      </p:sp>
      <p:sp>
        <p:nvSpPr>
          <p:cNvPr id="17" name="Trek"/>
          <p:cNvSpPr/>
          <p:nvPr/>
        </p:nvSpPr>
        <p:spPr>
          <a:xfrm>
            <a:off x="1463040" y="4133088"/>
            <a:ext cx="3840480" cy="420624"/>
          </a:xfrm>
          <a:prstGeom prst="roundRect">
            <a:avLst>
              <a:gd name="adj" fmla="val 10870"/>
            </a:avLst>
          </a:prstGeom>
          <a:solidFill>
            <a:srgbClr val="E6EAF0"/>
          </a:solidFill>
          <a:ln w="12700">
            <a:solidFill>
              <a:srgbClr val="E6EAF0"/>
            </a:solidFill>
            <a:prstDash val="solid"/>
          </a:ln>
        </p:spPr>
      </p:sp>
      <p:sp>
        <p:nvSpPr>
          <p:cNvPr id="18" name="Bar"/>
          <p:cNvSpPr/>
          <p:nvPr/>
        </p:nvSpPr>
        <p:spPr>
          <a:xfrm>
            <a:off x="1463040" y="4133088"/>
            <a:ext cx="3346704" cy="420624"/>
          </a:xfrm>
          <a:prstGeom prst="roundRect">
            <a:avLst>
              <a:gd name="adj" fmla="val 10870"/>
            </a:avLst>
          </a:prstGeom>
          <a:solidFill>
            <a:srgbClr val="1F6FB2"/>
          </a:solidFill>
          <a:ln w="12700">
            <a:solidFill>
              <a:srgbClr val="1F6FB2"/>
            </a:solidFill>
            <a:prstDash val="solid"/>
          </a:ln>
        </p:spPr>
      </p:sp>
      <p:sp>
        <p:nvSpPr>
          <p:cNvPr id="19" name="Text 16"/>
          <p:cNvSpPr txBox="1"/>
          <p:nvPr/>
        </p:nvSpPr>
        <p:spPr>
          <a:xfrm>
            <a:off x="5440680" y="4023360"/>
            <a:ext cx="822960" cy="640080"/>
          </a:xfrm>
          <a:prstGeom prst="rect">
            <a:avLst/>
          </a:prstGeom>
          <a:noFill/>
          <a:ln/>
        </p:spPr>
        <p:txBody>
          <a:bodyPr wrap="square" lIns="0" tIns="0" rIns="0" bIns="0" rtlCol="0" anchor="ctr"/>
          <a:lstStyle/>
          <a:p>
            <a:pPr indent="0" marL="0">
              <a:buNone/>
            </a:pPr>
            <a:r>
              <a:rPr lang="en-US" sz="2400" b="1" dirty="0">
                <a:solidFill>
                  <a:srgbClr val="1F6FB2"/>
                </a:solidFill>
                <a:latin typeface="Calibri" pitchFamily="34" charset="0"/>
                <a:ea typeface="Calibri" pitchFamily="34" charset="-122"/>
                <a:cs typeface="Calibri" pitchFamily="34" charset="-120"/>
              </a:rPr>
              <a:t>0,61</a:t>
            </a:r>
            <a:endParaRPr lang="en-US" sz="2400" dirty="0"/>
          </a:p>
        </p:txBody>
      </p:sp>
      <p:sp>
        <p:nvSpPr>
          <p:cNvPr id="20" name="Text 17"/>
          <p:cNvSpPr txBox="1"/>
          <p:nvPr/>
        </p:nvSpPr>
        <p:spPr>
          <a:xfrm>
            <a:off x="6263640" y="4023360"/>
            <a:ext cx="1463040" cy="640080"/>
          </a:xfrm>
          <a:prstGeom prst="rect">
            <a:avLst/>
          </a:prstGeom>
          <a:noFill/>
          <a:ln/>
        </p:spPr>
        <p:txBody>
          <a:bodyPr wrap="square" lIns="0" tIns="0" rIns="0" bIns="0" rtlCol="0" anchor="ctr"/>
          <a:lstStyle/>
          <a:p>
            <a:pPr indent="0" marL="0">
              <a:buNone/>
            </a:pPr>
            <a:r>
              <a:rPr lang="en-US" sz="1300" dirty="0">
                <a:solidFill>
                  <a:srgbClr val="5F6673"/>
                </a:solidFill>
                <a:latin typeface="Calibri" pitchFamily="34" charset="0"/>
                <a:ea typeface="Calibri" pitchFamily="34" charset="-122"/>
                <a:cs typeface="Calibri" pitchFamily="34" charset="-120"/>
              </a:rPr>
              <a:t>mengelompok kuat</a:t>
            </a:r>
            <a:endParaRPr lang="en-US" sz="1300" dirty="0"/>
          </a:p>
        </p:txBody>
      </p:sp>
      <p:sp>
        <p:nvSpPr>
          <p:cNvPr id="21" name="Text 18"/>
          <p:cNvSpPr txBox="1"/>
          <p:nvPr/>
        </p:nvSpPr>
        <p:spPr>
          <a:xfrm>
            <a:off x="548640" y="4937760"/>
            <a:ext cx="822960" cy="640080"/>
          </a:xfrm>
          <a:prstGeom prst="rect">
            <a:avLst/>
          </a:prstGeom>
          <a:noFill/>
          <a:ln/>
        </p:spPr>
        <p:txBody>
          <a:bodyPr wrap="square" lIns="0" tIns="0" rIns="0" bIns="0" rtlCol="0" anchor="ctr"/>
          <a:lstStyle/>
          <a:p>
            <a:pPr indent="0" marL="0">
              <a:buNone/>
            </a:pPr>
            <a:r>
              <a:rPr lang="en-US" sz="2400" b="1" dirty="0">
                <a:solidFill>
                  <a:srgbClr val="13213A"/>
                </a:solidFill>
                <a:latin typeface="Cambria" pitchFamily="34" charset="0"/>
                <a:ea typeface="Cambria" pitchFamily="34" charset="-122"/>
                <a:cs typeface="Cambria" pitchFamily="34" charset="-120"/>
              </a:rPr>
              <a:t>SMK</a:t>
            </a:r>
            <a:endParaRPr lang="en-US" sz="2400" dirty="0"/>
          </a:p>
        </p:txBody>
      </p:sp>
      <p:sp>
        <p:nvSpPr>
          <p:cNvPr id="22" name="Trek"/>
          <p:cNvSpPr/>
          <p:nvPr/>
        </p:nvSpPr>
        <p:spPr>
          <a:xfrm>
            <a:off x="1463040" y="5047488"/>
            <a:ext cx="3840480" cy="420624"/>
          </a:xfrm>
          <a:prstGeom prst="roundRect">
            <a:avLst>
              <a:gd name="adj" fmla="val 10870"/>
            </a:avLst>
          </a:prstGeom>
          <a:solidFill>
            <a:srgbClr val="E6EAF0"/>
          </a:solidFill>
          <a:ln w="12700">
            <a:solidFill>
              <a:srgbClr val="E6EAF0"/>
            </a:solidFill>
            <a:prstDash val="solid"/>
          </a:ln>
        </p:spPr>
      </p:sp>
      <p:sp>
        <p:nvSpPr>
          <p:cNvPr id="23" name="Bar"/>
          <p:cNvSpPr/>
          <p:nvPr/>
        </p:nvSpPr>
        <p:spPr>
          <a:xfrm>
            <a:off x="1463040" y="5047488"/>
            <a:ext cx="329184" cy="420624"/>
          </a:xfrm>
          <a:prstGeom prst="roundRect">
            <a:avLst>
              <a:gd name="adj" fmla="val 13889"/>
            </a:avLst>
          </a:prstGeom>
          <a:solidFill>
            <a:srgbClr val="C4532A"/>
          </a:solidFill>
          <a:ln w="12700">
            <a:solidFill>
              <a:srgbClr val="C4532A"/>
            </a:solidFill>
            <a:prstDash val="solid"/>
          </a:ln>
        </p:spPr>
      </p:sp>
      <p:sp>
        <p:nvSpPr>
          <p:cNvPr id="24" name="Text 21"/>
          <p:cNvSpPr txBox="1"/>
          <p:nvPr/>
        </p:nvSpPr>
        <p:spPr>
          <a:xfrm>
            <a:off x="5440680" y="4937760"/>
            <a:ext cx="822960" cy="640080"/>
          </a:xfrm>
          <a:prstGeom prst="rect">
            <a:avLst/>
          </a:prstGeom>
          <a:noFill/>
          <a:ln/>
        </p:spPr>
        <p:txBody>
          <a:bodyPr wrap="square" lIns="0" tIns="0" rIns="0" bIns="0" rtlCol="0" anchor="ctr"/>
          <a:lstStyle/>
          <a:p>
            <a:pPr indent="0" marL="0">
              <a:buNone/>
            </a:pPr>
            <a:r>
              <a:rPr lang="en-US" sz="2400" b="1" dirty="0">
                <a:solidFill>
                  <a:srgbClr val="A9451F"/>
                </a:solidFill>
                <a:latin typeface="Calibri" pitchFamily="34" charset="0"/>
                <a:ea typeface="Calibri" pitchFamily="34" charset="-122"/>
                <a:cs typeface="Calibri" pitchFamily="34" charset="-120"/>
              </a:rPr>
              <a:t>0,06</a:t>
            </a:r>
            <a:endParaRPr lang="en-US" sz="2400" dirty="0"/>
          </a:p>
        </p:txBody>
      </p:sp>
      <p:sp>
        <p:nvSpPr>
          <p:cNvPr id="25" name="Text 22"/>
          <p:cNvSpPr txBox="1"/>
          <p:nvPr/>
        </p:nvSpPr>
        <p:spPr>
          <a:xfrm>
            <a:off x="6263640" y="4937760"/>
            <a:ext cx="1463040" cy="640080"/>
          </a:xfrm>
          <a:prstGeom prst="rect">
            <a:avLst/>
          </a:prstGeom>
          <a:noFill/>
          <a:ln/>
        </p:spPr>
        <p:txBody>
          <a:bodyPr wrap="square" lIns="0" tIns="0" rIns="0" bIns="0" rtlCol="0" anchor="ctr"/>
          <a:lstStyle/>
          <a:p>
            <a:pPr indent="0" marL="0">
              <a:buNone/>
            </a:pPr>
            <a:r>
              <a:rPr lang="en-US" sz="1300" dirty="0">
                <a:solidFill>
                  <a:srgbClr val="5F6673"/>
                </a:solidFill>
                <a:latin typeface="Calibri" pitchFamily="34" charset="0"/>
                <a:ea typeface="Calibri" pitchFamily="34" charset="-122"/>
                <a:cs typeface="Calibri" pitchFamily="34" charset="-120"/>
              </a:rPr>
              <a:t>hampir acak</a:t>
            </a:r>
            <a:endParaRPr lang="en-US" sz="1300" dirty="0"/>
          </a:p>
        </p:txBody>
      </p:sp>
      <p:sp>
        <p:nvSpPr>
          <p:cNvPr id="26" name="SLOT GAMBAR"/>
          <p:cNvSpPr/>
          <p:nvPr/>
        </p:nvSpPr>
        <p:spPr>
          <a:xfrm>
            <a:off x="8046720" y="1737360"/>
            <a:ext cx="3593592" cy="2331720"/>
          </a:xfrm>
          <a:prstGeom prst="roundRect">
            <a:avLst>
              <a:gd name="adj" fmla="val 4706"/>
            </a:avLst>
          </a:prstGeom>
          <a:solidFill>
            <a:srgbClr val="EEF1F6"/>
          </a:solidFill>
          <a:ln w="19050">
            <a:solidFill>
              <a:srgbClr val="9AA6B8"/>
            </a:solidFill>
            <a:prstDash val="dash"/>
          </a:ln>
        </p:spPr>
      </p:sp>
      <p:sp>
        <p:nvSpPr>
          <p:cNvPr id="27" name="Text 24"/>
          <p:cNvSpPr txBox="1"/>
          <p:nvPr/>
        </p:nvSpPr>
        <p:spPr>
          <a:xfrm>
            <a:off x="8046720" y="1737360"/>
            <a:ext cx="3593592" cy="2331720"/>
          </a:xfrm>
          <a:prstGeom prst="rect">
            <a:avLst/>
          </a:prstGeom>
          <a:noFill/>
          <a:ln/>
        </p:spPr>
        <p:txBody>
          <a:bodyPr wrap="square" lIns="1905" tIns="1905" rIns="1905" bIns="1905" rtlCol="0" anchor="ctr"/>
          <a:lstStyle/>
          <a:p>
            <a:pPr algn="ctr" indent="0" marL="0">
              <a:buNone/>
            </a:pPr>
            <a:r>
              <a:rPr lang="en-US" sz="1200" b="1" dirty="0">
                <a:solidFill>
                  <a:srgbClr val="6B7787"/>
                </a:solidFill>
                <a:latin typeface="Calibri" pitchFamily="34" charset="0"/>
                <a:ea typeface="Calibri" pitchFamily="34" charset="-122"/>
                <a:cs typeface="Calibri" pitchFamily="34" charset="-120"/>
              </a:rPr>
              <a:t>SLOT GAMBAR</a:t>
            </a:r>
            <a:endParaRPr lang="en-US" sz="1200" dirty="0"/>
          </a:p>
          <a:p>
            <a:pPr algn="ctr" indent="0" marL="0">
              <a:buNone/>
            </a:pPr>
            <a:r>
              <a:rPr lang="en-US" sz="1300" dirty="0">
                <a:solidFill>
                  <a:srgbClr val="6B7787"/>
                </a:solidFill>
                <a:latin typeface="Calibri" pitchFamily="34" charset="0"/>
                <a:ea typeface="Calibri" pitchFamily="34" charset="-122"/>
                <a:cs typeface="Calibri" pitchFamily="34" charset="-120"/>
              </a:rPr>
              <a:t>Peta Moran / LISA (opsional)</a:t>
            </a:r>
            <a:endParaRPr lang="en-US" sz="1200" dirty="0"/>
          </a:p>
        </p:txBody>
      </p:sp>
      <p:sp>
        <p:nvSpPr>
          <p:cNvPr id="28" name="Kartu"/>
          <p:cNvSpPr/>
          <p:nvPr/>
        </p:nvSpPr>
        <p:spPr>
          <a:xfrm>
            <a:off x="8046720" y="4251960"/>
            <a:ext cx="3593592" cy="1828800"/>
          </a:xfrm>
          <a:prstGeom prst="roundRect">
            <a:avLst>
              <a:gd name="adj" fmla="val 6000"/>
            </a:avLst>
          </a:prstGeom>
          <a:solidFill>
            <a:srgbClr val="FFFFFF"/>
          </a:solidFill>
          <a:ln w="9525">
            <a:solidFill>
              <a:srgbClr val="DDE2EA"/>
            </a:solidFill>
            <a:prstDash val="solid"/>
          </a:ln>
          <a:effectLst>
            <a:outerShdw sx="100000" sy="100000" kx="0" ky="0" algn="bl" rotWithShape="0" blurRad="101600" dist="25400" dir="5400000">
              <a:srgbClr val="000000">
                <a:alpha val="8000"/>
              </a:srgbClr>
            </a:outerShdw>
          </a:effectLst>
        </p:spPr>
      </p:sp>
      <p:sp>
        <p:nvSpPr>
          <p:cNvPr id="29" name="Text 26"/>
          <p:cNvSpPr txBox="1"/>
          <p:nvPr/>
        </p:nvSpPr>
        <p:spPr>
          <a:xfrm>
            <a:off x="8275320" y="4389120"/>
            <a:ext cx="3154680" cy="1554480"/>
          </a:xfrm>
          <a:prstGeom prst="rect">
            <a:avLst/>
          </a:prstGeom>
          <a:noFill/>
          <a:ln/>
        </p:spPr>
        <p:txBody>
          <a:bodyPr wrap="square" lIns="0" tIns="0" rIns="0" bIns="0" rtlCol="0" anchor="t"/>
          <a:lstStyle/>
          <a:p>
            <a:pPr indent="0" marL="0">
              <a:spcAft>
                <a:spcPts val="600"/>
              </a:spcAft>
              <a:buNone/>
            </a:pPr>
            <a:r>
              <a:rPr lang="en-US" sz="1400" b="1" dirty="0">
                <a:solidFill>
                  <a:srgbClr val="13213A"/>
                </a:solidFill>
                <a:latin typeface="Calibri" pitchFamily="34" charset="0"/>
                <a:ea typeface="Calibri" pitchFamily="34" charset="-122"/>
                <a:cs typeface="Calibri" pitchFamily="34" charset="-120"/>
              </a:rPr>
              <a:t>Wilayah bertetangga punya capaian mirip, jadi kebijakan perlu dirancang per wilayah.</a:t>
            </a:r>
            <a:endParaRPr lang="en-US" sz="1400" dirty="0"/>
          </a:p>
          <a:p>
            <a:pPr indent="0" marL="0">
              <a:spcAft>
                <a:spcPts val="600"/>
              </a:spcAft>
              <a:buNone/>
            </a:pPr>
            <a:r>
              <a:rPr lang="en-US" sz="1400" dirty="0">
                <a:solidFill>
                  <a:srgbClr val="5F6673"/>
                </a:solidFill>
                <a:latin typeface="Calibri" pitchFamily="34" charset="0"/>
                <a:ea typeface="Calibri" pitchFamily="34" charset="-122"/>
                <a:cs typeface="Calibri" pitchFamily="34" charset="-120"/>
              </a:rPr>
              <a:t>SMK tidak mengikuti pola ini; penentunya kemungkinan di luar data sekolah.</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Eyebrow"/>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200" kern="0" dirty="0">
                <a:solidFill>
                  <a:srgbClr val="A9451F"/>
                </a:solidFill>
                <a:latin typeface="Calibri" pitchFamily="34" charset="0"/>
                <a:ea typeface="Calibri" pitchFamily="34" charset="-122"/>
                <a:cs typeface="Calibri" pitchFamily="34" charset="-120"/>
              </a:rPr>
              <a:t>TEMUAN 2 · TIPOLOGI WILAYAH</a:t>
            </a:r>
            <a:endParaRPr lang="en-US" sz="1300" dirty="0"/>
          </a:p>
        </p:txBody>
      </p:sp>
      <p:sp>
        <p:nvSpPr>
          <p:cNvPr id="4" name="Judul"/>
          <p:cNvSpPr txBox="1"/>
          <p:nvPr/>
        </p:nvSpPr>
        <p:spPr>
          <a:xfrm>
            <a:off x="548640" y="713232"/>
            <a:ext cx="11064240" cy="868680"/>
          </a:xfrm>
          <a:prstGeom prst="rect">
            <a:avLst/>
          </a:prstGeom>
          <a:noFill/>
          <a:ln/>
        </p:spPr>
        <p:txBody>
          <a:bodyPr wrap="square" lIns="0" tIns="0" rIns="0" bIns="0" rtlCol="0" anchor="t"/>
          <a:lstStyle/>
          <a:p>
            <a:pPr indent="0" marL="0">
              <a:buNone/>
            </a:pPr>
            <a:r>
              <a:rPr lang="en-US" sz="3400" b="1" dirty="0">
                <a:solidFill>
                  <a:srgbClr val="13213A"/>
                </a:solidFill>
                <a:latin typeface="Cambria" pitchFamily="34" charset="0"/>
                <a:ea typeface="Cambria" pitchFamily="34" charset="-122"/>
                <a:cs typeface="Cambria" pitchFamily="34" charset="-120"/>
              </a:rPr>
              <a:t>Tiga tipologi wilayah, tiga masalah berbeda</a:t>
            </a:r>
            <a:endParaRPr lang="en-US" sz="3400" dirty="0"/>
          </a:p>
        </p:txBody>
      </p:sp>
      <p:sp>
        <p:nvSpPr>
          <p:cNvPr id="5" name="SLOT PETA KLASTER"/>
          <p:cNvSpPr/>
          <p:nvPr/>
        </p:nvSpPr>
        <p:spPr>
          <a:xfrm>
            <a:off x="548640" y="1783080"/>
            <a:ext cx="5212080" cy="4206240"/>
          </a:xfrm>
          <a:prstGeom prst="roundRect">
            <a:avLst>
              <a:gd name="adj" fmla="val 2609"/>
            </a:avLst>
          </a:prstGeom>
          <a:solidFill>
            <a:srgbClr val="EEF1F6"/>
          </a:solidFill>
          <a:ln w="19050">
            <a:solidFill>
              <a:srgbClr val="9AA6B8"/>
            </a:solidFill>
            <a:prstDash val="dash"/>
          </a:ln>
        </p:spPr>
      </p:sp>
      <p:sp>
        <p:nvSpPr>
          <p:cNvPr id="6" name="Text 3"/>
          <p:cNvSpPr txBox="1"/>
          <p:nvPr/>
        </p:nvSpPr>
        <p:spPr>
          <a:xfrm>
            <a:off x="548640" y="1783080"/>
            <a:ext cx="5212080" cy="4206240"/>
          </a:xfrm>
          <a:prstGeom prst="rect">
            <a:avLst/>
          </a:prstGeom>
          <a:noFill/>
          <a:ln/>
        </p:spPr>
        <p:txBody>
          <a:bodyPr wrap="square" lIns="1905" tIns="1905" rIns="1905" bIns="1905" rtlCol="0" anchor="ctr"/>
          <a:lstStyle/>
          <a:p>
            <a:pPr algn="ctr" indent="0" marL="0">
              <a:buNone/>
            </a:pPr>
            <a:r>
              <a:rPr lang="en-US" sz="1200" b="1" dirty="0">
                <a:solidFill>
                  <a:srgbClr val="6B7787"/>
                </a:solidFill>
                <a:latin typeface="Calibri" pitchFamily="34" charset="0"/>
                <a:ea typeface="Calibri" pitchFamily="34" charset="-122"/>
                <a:cs typeface="Calibri" pitchFamily="34" charset="-120"/>
              </a:rPr>
              <a:t>SLOT GAMBAR</a:t>
            </a:r>
            <a:endParaRPr lang="en-US" sz="1200" dirty="0"/>
          </a:p>
          <a:p>
            <a:pPr algn="ctr" indent="0" marL="0">
              <a:buNone/>
            </a:pPr>
            <a:r>
              <a:rPr lang="en-US" sz="1300" dirty="0">
                <a:solidFill>
                  <a:srgbClr val="6B7787"/>
                </a:solidFill>
                <a:latin typeface="Calibri" pitchFamily="34" charset="0"/>
                <a:ea typeface="Calibri" pitchFamily="34" charset="-122"/>
                <a:cs typeface="Calibri" pitchFamily="34" charset="-120"/>
              </a:rPr>
              <a:t>Peta klaster jenjang SD, 514 kab/kota (peta_klaster_sd.png)</a:t>
            </a:r>
            <a:endParaRPr lang="en-US" sz="1200" dirty="0"/>
          </a:p>
        </p:txBody>
      </p:sp>
      <p:sp>
        <p:nvSpPr>
          <p:cNvPr id="7" name="Text 4"/>
          <p:cNvSpPr txBox="1"/>
          <p:nvPr/>
        </p:nvSpPr>
        <p:spPr>
          <a:xfrm>
            <a:off x="548640" y="6035040"/>
            <a:ext cx="5212080" cy="274320"/>
          </a:xfrm>
          <a:prstGeom prst="rect">
            <a:avLst/>
          </a:prstGeom>
          <a:noFill/>
          <a:ln/>
        </p:spPr>
        <p:txBody>
          <a:bodyPr wrap="square" lIns="0" tIns="0" rIns="0" bIns="0" rtlCol="0" anchor="ctr"/>
          <a:lstStyle/>
          <a:p>
            <a:pPr indent="0" marL="0">
              <a:buNone/>
            </a:pPr>
            <a:r>
              <a:rPr lang="en-US" sz="1100" dirty="0">
                <a:solidFill>
                  <a:srgbClr val="5F6673"/>
                </a:solidFill>
                <a:latin typeface="Calibri" pitchFamily="34" charset="0"/>
                <a:ea typeface="Calibri" pitchFamily="34" charset="-122"/>
                <a:cs typeface="Calibri" pitchFamily="34" charset="-120"/>
              </a:rPr>
              <a:t>Sebaran klaster jenjang SD · K-Means, k = 3</a:t>
            </a:r>
            <a:endParaRPr lang="en-US" sz="1100" dirty="0"/>
          </a:p>
        </p:txBody>
      </p:sp>
      <p:sp>
        <p:nvSpPr>
          <p:cNvPr id="8" name="Kartu"/>
          <p:cNvSpPr/>
          <p:nvPr/>
        </p:nvSpPr>
        <p:spPr>
          <a:xfrm>
            <a:off x="6126480" y="1783080"/>
            <a:ext cx="5513832" cy="1325880"/>
          </a:xfrm>
          <a:prstGeom prst="roundRect">
            <a:avLst>
              <a:gd name="adj" fmla="val 8276"/>
            </a:avLst>
          </a:prstGeom>
          <a:solidFill>
            <a:srgbClr val="FFFFFF"/>
          </a:solidFill>
          <a:ln w="9525">
            <a:solidFill>
              <a:srgbClr val="DDE2EA"/>
            </a:solidFill>
            <a:prstDash val="solid"/>
          </a:ln>
          <a:effectLst>
            <a:outerShdw sx="100000" sy="100000" kx="0" ky="0" algn="bl" rotWithShape="0" blurRad="101600" dist="25400" dir="5400000">
              <a:srgbClr val="000000">
                <a:alpha val="8000"/>
              </a:srgbClr>
            </a:outerShdw>
          </a:effectLst>
        </p:spPr>
      </p:sp>
      <p:sp>
        <p:nvSpPr>
          <p:cNvPr id="9" name="Penanda"/>
          <p:cNvSpPr/>
          <p:nvPr/>
        </p:nvSpPr>
        <p:spPr>
          <a:xfrm>
            <a:off x="6355080" y="1965960"/>
            <a:ext cx="411480" cy="411480"/>
          </a:xfrm>
          <a:prstGeom prst="ellipse">
            <a:avLst/>
          </a:prstGeom>
          <a:solidFill>
            <a:srgbClr val="1F6FB2"/>
          </a:solidFill>
          <a:ln w="12700">
            <a:solidFill>
              <a:srgbClr val="1F6FB2"/>
            </a:solidFill>
            <a:prstDash val="solid"/>
          </a:ln>
        </p:spPr>
      </p:sp>
      <p:sp>
        <p:nvSpPr>
          <p:cNvPr id="10" name="Text 7"/>
          <p:cNvSpPr txBox="1"/>
          <p:nvPr/>
        </p:nvSpPr>
        <p:spPr>
          <a:xfrm>
            <a:off x="6949440" y="1938528"/>
            <a:ext cx="4572000" cy="411480"/>
          </a:xfrm>
          <a:prstGeom prst="rect">
            <a:avLst/>
          </a:prstGeom>
          <a:noFill/>
          <a:ln/>
        </p:spPr>
        <p:txBody>
          <a:bodyPr wrap="square" lIns="0" tIns="0" rIns="0" bIns="0" rtlCol="0" anchor="ctr"/>
          <a:lstStyle/>
          <a:p>
            <a:pPr indent="0" marL="0">
              <a:buNone/>
            </a:pPr>
            <a:r>
              <a:rPr lang="en-US" sz="1900" b="1" dirty="0">
                <a:solidFill>
                  <a:srgbClr val="13213A"/>
                </a:solidFill>
                <a:latin typeface="Cambria" pitchFamily="34" charset="0"/>
                <a:ea typeface="Cambria" pitchFamily="34" charset="-122"/>
                <a:cs typeface="Cambria" pitchFamily="34" charset="-120"/>
              </a:rPr>
              <a:t>Benchmark Maju · 48,1%</a:t>
            </a:r>
            <a:endParaRPr lang="en-US" sz="1900" dirty="0"/>
          </a:p>
        </p:txBody>
      </p:sp>
      <p:sp>
        <p:nvSpPr>
          <p:cNvPr id="11" name="Text 8"/>
          <p:cNvSpPr txBox="1"/>
          <p:nvPr/>
        </p:nvSpPr>
        <p:spPr>
          <a:xfrm>
            <a:off x="6949440" y="2377440"/>
            <a:ext cx="4526280" cy="685800"/>
          </a:xfrm>
          <a:prstGeom prst="rect">
            <a:avLst/>
          </a:prstGeom>
          <a:noFill/>
          <a:ln/>
        </p:spPr>
        <p:txBody>
          <a:bodyPr wrap="square" lIns="0" tIns="0" rIns="0" bIns="0" rtlCol="0" anchor="t"/>
          <a:lstStyle/>
          <a:p>
            <a:pPr indent="0" marL="0">
              <a:buNone/>
            </a:pPr>
            <a:r>
              <a:rPr lang="en-US" sz="1400" dirty="0">
                <a:solidFill>
                  <a:srgbClr val="5F6673"/>
                </a:solidFill>
                <a:latin typeface="Calibri" pitchFamily="34" charset="0"/>
                <a:ea typeface="Calibri" pitchFamily="34" charset="-122"/>
                <a:cs typeface="Calibri" pitchFamily="34" charset="-120"/>
              </a:rPr>
              <a:t>Rerata 63,57. Jawa, Bali, Kaltim, kota besar. Listrik 99,2%, air bersih 96,8%.</a:t>
            </a:r>
            <a:endParaRPr lang="en-US" sz="1400" dirty="0"/>
          </a:p>
        </p:txBody>
      </p:sp>
      <p:sp>
        <p:nvSpPr>
          <p:cNvPr id="12" name="Kartu"/>
          <p:cNvSpPr/>
          <p:nvPr/>
        </p:nvSpPr>
        <p:spPr>
          <a:xfrm>
            <a:off x="6126480" y="3227832"/>
            <a:ext cx="5513832" cy="1325880"/>
          </a:xfrm>
          <a:prstGeom prst="roundRect">
            <a:avLst>
              <a:gd name="adj" fmla="val 8276"/>
            </a:avLst>
          </a:prstGeom>
          <a:solidFill>
            <a:srgbClr val="FFFFFF"/>
          </a:solidFill>
          <a:ln w="9525">
            <a:solidFill>
              <a:srgbClr val="DDE2EA"/>
            </a:solidFill>
            <a:prstDash val="solid"/>
          </a:ln>
          <a:effectLst>
            <a:outerShdw sx="100000" sy="100000" kx="0" ky="0" algn="bl" rotWithShape="0" blurRad="101600" dist="25400" dir="5400000">
              <a:srgbClr val="000000">
                <a:alpha val="8000"/>
              </a:srgbClr>
            </a:outerShdw>
          </a:effectLst>
        </p:spPr>
      </p:sp>
      <p:sp>
        <p:nvSpPr>
          <p:cNvPr id="13" name="Penanda"/>
          <p:cNvSpPr/>
          <p:nvPr/>
        </p:nvSpPr>
        <p:spPr>
          <a:xfrm>
            <a:off x="6355080" y="3410712"/>
            <a:ext cx="411480" cy="411480"/>
          </a:xfrm>
          <a:prstGeom prst="ellipse">
            <a:avLst/>
          </a:prstGeom>
          <a:solidFill>
            <a:srgbClr val="D99A1E"/>
          </a:solidFill>
          <a:ln w="12700">
            <a:solidFill>
              <a:srgbClr val="D99A1E"/>
            </a:solidFill>
            <a:prstDash val="solid"/>
          </a:ln>
        </p:spPr>
      </p:sp>
      <p:sp>
        <p:nvSpPr>
          <p:cNvPr id="14" name="Text 11"/>
          <p:cNvSpPr txBox="1"/>
          <p:nvPr/>
        </p:nvSpPr>
        <p:spPr>
          <a:xfrm>
            <a:off x="6949440" y="3383280"/>
            <a:ext cx="4572000" cy="411480"/>
          </a:xfrm>
          <a:prstGeom prst="rect">
            <a:avLst/>
          </a:prstGeom>
          <a:noFill/>
          <a:ln/>
        </p:spPr>
        <p:txBody>
          <a:bodyPr wrap="square" lIns="0" tIns="0" rIns="0" bIns="0" rtlCol="0" anchor="ctr"/>
          <a:lstStyle/>
          <a:p>
            <a:pPr indent="0" marL="0">
              <a:buNone/>
            </a:pPr>
            <a:r>
              <a:rPr lang="en-US" sz="1900" b="1" dirty="0">
                <a:solidFill>
                  <a:srgbClr val="13213A"/>
                </a:solidFill>
                <a:latin typeface="Cambria" pitchFamily="34" charset="0"/>
                <a:ea typeface="Cambria" pitchFamily="34" charset="-122"/>
                <a:cs typeface="Cambria" pitchFamily="34" charset="-120"/>
              </a:rPr>
              <a:t>Paradoks Sarpras · 46,1%</a:t>
            </a:r>
            <a:endParaRPr lang="en-US" sz="1900" dirty="0"/>
          </a:p>
        </p:txBody>
      </p:sp>
      <p:sp>
        <p:nvSpPr>
          <p:cNvPr id="15" name="Text 12"/>
          <p:cNvSpPr txBox="1"/>
          <p:nvPr/>
        </p:nvSpPr>
        <p:spPr>
          <a:xfrm>
            <a:off x="6949440" y="3822192"/>
            <a:ext cx="4526280" cy="685800"/>
          </a:xfrm>
          <a:prstGeom prst="rect">
            <a:avLst/>
          </a:prstGeom>
          <a:noFill/>
          <a:ln/>
        </p:spPr>
        <p:txBody>
          <a:bodyPr wrap="square" lIns="0" tIns="0" rIns="0" bIns="0" rtlCol="0" anchor="t"/>
          <a:lstStyle/>
          <a:p>
            <a:pPr indent="0" marL="0">
              <a:buNone/>
            </a:pPr>
            <a:r>
              <a:rPr lang="en-US" sz="1400" dirty="0">
                <a:solidFill>
                  <a:srgbClr val="5F6673"/>
                </a:solidFill>
                <a:latin typeface="Calibri" pitchFamily="34" charset="0"/>
                <a:ea typeface="Calibri" pitchFamily="34" charset="-122"/>
                <a:cs typeface="Calibri" pitchFamily="34" charset="-120"/>
              </a:rPr>
              <a:t>Rerata 53,27. Listrik 93,6%, tapi ruang kelas layak hanya 64%, rombel padat, gap TIK.</a:t>
            </a:r>
            <a:endParaRPr lang="en-US" sz="1400" dirty="0"/>
          </a:p>
        </p:txBody>
      </p:sp>
      <p:sp>
        <p:nvSpPr>
          <p:cNvPr id="16" name="Kartu"/>
          <p:cNvSpPr/>
          <p:nvPr/>
        </p:nvSpPr>
        <p:spPr>
          <a:xfrm>
            <a:off x="6126480" y="4672584"/>
            <a:ext cx="5513832" cy="1325880"/>
          </a:xfrm>
          <a:prstGeom prst="roundRect">
            <a:avLst>
              <a:gd name="adj" fmla="val 8276"/>
            </a:avLst>
          </a:prstGeom>
          <a:solidFill>
            <a:srgbClr val="FFFFFF"/>
          </a:solidFill>
          <a:ln w="9525">
            <a:solidFill>
              <a:srgbClr val="DDE2EA"/>
            </a:solidFill>
            <a:prstDash val="solid"/>
          </a:ln>
          <a:effectLst>
            <a:outerShdw sx="100000" sy="100000" kx="0" ky="0" algn="bl" rotWithShape="0" blurRad="101600" dist="25400" dir="5400000">
              <a:srgbClr val="000000">
                <a:alpha val="8000"/>
              </a:srgbClr>
            </a:outerShdw>
          </a:effectLst>
        </p:spPr>
      </p:sp>
      <p:sp>
        <p:nvSpPr>
          <p:cNvPr id="17" name="Penanda"/>
          <p:cNvSpPr/>
          <p:nvPr/>
        </p:nvSpPr>
        <p:spPr>
          <a:xfrm>
            <a:off x="6355080" y="4855464"/>
            <a:ext cx="411480" cy="411480"/>
          </a:xfrm>
          <a:prstGeom prst="ellipse">
            <a:avLst/>
          </a:prstGeom>
          <a:solidFill>
            <a:srgbClr val="C4532A"/>
          </a:solidFill>
          <a:ln w="12700">
            <a:solidFill>
              <a:srgbClr val="C4532A"/>
            </a:solidFill>
            <a:prstDash val="solid"/>
          </a:ln>
        </p:spPr>
      </p:sp>
      <p:sp>
        <p:nvSpPr>
          <p:cNvPr id="18" name="Text 15"/>
          <p:cNvSpPr txBox="1"/>
          <p:nvPr/>
        </p:nvSpPr>
        <p:spPr>
          <a:xfrm>
            <a:off x="6949440" y="4828032"/>
            <a:ext cx="4572000" cy="411480"/>
          </a:xfrm>
          <a:prstGeom prst="rect">
            <a:avLst/>
          </a:prstGeom>
          <a:noFill/>
          <a:ln/>
        </p:spPr>
        <p:txBody>
          <a:bodyPr wrap="square" lIns="0" tIns="0" rIns="0" bIns="0" rtlCol="0" anchor="ctr"/>
          <a:lstStyle/>
          <a:p>
            <a:pPr indent="0" marL="0">
              <a:buNone/>
            </a:pPr>
            <a:r>
              <a:rPr lang="en-US" sz="1900" b="1" dirty="0">
                <a:solidFill>
                  <a:srgbClr val="13213A"/>
                </a:solidFill>
                <a:latin typeface="Cambria" pitchFamily="34" charset="0"/>
                <a:ea typeface="Cambria" pitchFamily="34" charset="-122"/>
                <a:cs typeface="Cambria" pitchFamily="34" charset="-120"/>
              </a:rPr>
              <a:t>Afirmasi 3T · 5,8%</a:t>
            </a:r>
            <a:endParaRPr lang="en-US" sz="1900" dirty="0"/>
          </a:p>
        </p:txBody>
      </p:sp>
      <p:sp>
        <p:nvSpPr>
          <p:cNvPr id="19" name="Text 16"/>
          <p:cNvSpPr txBox="1"/>
          <p:nvPr/>
        </p:nvSpPr>
        <p:spPr>
          <a:xfrm>
            <a:off x="6949440" y="5266944"/>
            <a:ext cx="4526280" cy="685800"/>
          </a:xfrm>
          <a:prstGeom prst="rect">
            <a:avLst/>
          </a:prstGeom>
          <a:noFill/>
          <a:ln/>
        </p:spPr>
        <p:txBody>
          <a:bodyPr wrap="square" lIns="0" tIns="0" rIns="0" bIns="0" rtlCol="0" anchor="t"/>
          <a:lstStyle/>
          <a:p>
            <a:pPr indent="0" marL="0">
              <a:buNone/>
            </a:pPr>
            <a:r>
              <a:rPr lang="en-US" sz="1400" dirty="0">
                <a:solidFill>
                  <a:srgbClr val="5F6673"/>
                </a:solidFill>
                <a:latin typeface="Calibri" pitchFamily="34" charset="0"/>
                <a:ea typeface="Calibri" pitchFamily="34" charset="-122"/>
                <a:cs typeface="Calibri" pitchFamily="34" charset="-120"/>
              </a:rPr>
              <a:t>Rerata 38,29. Papua, Maluku, NTT. Listrik 62,4%, air bersih di bawah 60%, iklim aman rendah.</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Eyebrow"/>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200" kern="0" dirty="0">
                <a:solidFill>
                  <a:srgbClr val="A9451F"/>
                </a:solidFill>
                <a:latin typeface="Calibri" pitchFamily="34" charset="0"/>
                <a:ea typeface="Calibri" pitchFamily="34" charset="-122"/>
                <a:cs typeface="Calibri" pitchFamily="34" charset="-120"/>
              </a:rPr>
              <a:t>TEMUAN 3 · TRANSISI JENJANG</a:t>
            </a:r>
            <a:endParaRPr lang="en-US" sz="1300" dirty="0"/>
          </a:p>
        </p:txBody>
      </p:sp>
      <p:sp>
        <p:nvSpPr>
          <p:cNvPr id="4" name="Judul"/>
          <p:cNvSpPr txBox="1"/>
          <p:nvPr/>
        </p:nvSpPr>
        <p:spPr>
          <a:xfrm>
            <a:off x="548640" y="713232"/>
            <a:ext cx="11064240" cy="868680"/>
          </a:xfrm>
          <a:prstGeom prst="rect">
            <a:avLst/>
          </a:prstGeom>
          <a:noFill/>
          <a:ln/>
        </p:spPr>
        <p:txBody>
          <a:bodyPr wrap="square" lIns="0" tIns="0" rIns="0" bIns="0" rtlCol="0" anchor="t"/>
          <a:lstStyle/>
          <a:p>
            <a:pPr indent="0" marL="0">
              <a:buNone/>
            </a:pPr>
            <a:r>
              <a:rPr lang="en-US" sz="3400" b="1" dirty="0">
                <a:solidFill>
                  <a:srgbClr val="13213A"/>
                </a:solidFill>
                <a:latin typeface="Cambria" pitchFamily="34" charset="0"/>
                <a:ea typeface="Cambria" pitchFamily="34" charset="-122"/>
                <a:cs typeface="Cambria" pitchFamily="34" charset="-120"/>
              </a:rPr>
              <a:t>Naik di SMP, lalu jatuh di SMA dan SMK</a:t>
            </a:r>
            <a:endParaRPr lang="en-US" sz="3400" dirty="0"/>
          </a:p>
        </p:txBody>
      </p:sp>
      <p:graphicFrame>
        <p:nvGraphicFramePr>
          <p:cNvPr id="5" name="Chart 0" descr=""/>
          <p:cNvGraphicFramePr/>
          <p:nvPr/>
        </p:nvGraphicFramePr>
        <p:xfrm>
          <a:off x="548640" y="1737360"/>
          <a:ext cx="6583680" cy="4206240"/>
        </p:xfrm>
        <a:graphic xmlns:a="http://schemas.openxmlformats.org/drawingml/2006/main">
          <a:graphicData uri="http://schemas.openxmlformats.org/drawingml/2006/chart">
            <c:chart xmlns:c="http://schemas.openxmlformats.org/drawingml/2006/chart" r:id="rId1"/>
          </a:graphicData>
        </a:graphic>
      </p:graphicFrame>
      <p:sp>
        <p:nvSpPr>
          <p:cNvPr id="6" name="Kartu"/>
          <p:cNvSpPr/>
          <p:nvPr/>
        </p:nvSpPr>
        <p:spPr>
          <a:xfrm>
            <a:off x="7498080" y="1783080"/>
            <a:ext cx="1325880" cy="1234440"/>
          </a:xfrm>
          <a:prstGeom prst="roundRect">
            <a:avLst>
              <a:gd name="adj" fmla="val 8889"/>
            </a:avLst>
          </a:prstGeom>
          <a:solidFill>
            <a:srgbClr val="FFFFFF"/>
          </a:solidFill>
          <a:ln w="9525">
            <a:solidFill>
              <a:srgbClr val="DDE2EA"/>
            </a:solidFill>
            <a:prstDash val="solid"/>
          </a:ln>
          <a:effectLst>
            <a:outerShdw sx="100000" sy="100000" kx="0" ky="0" algn="bl" rotWithShape="0" blurRad="101600" dist="25400" dir="5400000">
              <a:srgbClr val="000000">
                <a:alpha val="8000"/>
              </a:srgbClr>
            </a:outerShdw>
          </a:effectLst>
        </p:spPr>
      </p:sp>
      <p:sp>
        <p:nvSpPr>
          <p:cNvPr id="7" name="Text 3"/>
          <p:cNvSpPr txBox="1"/>
          <p:nvPr/>
        </p:nvSpPr>
        <p:spPr>
          <a:xfrm>
            <a:off x="7498080" y="1920240"/>
            <a:ext cx="1325880" cy="548640"/>
          </a:xfrm>
          <a:prstGeom prst="rect">
            <a:avLst/>
          </a:prstGeom>
          <a:noFill/>
          <a:ln/>
        </p:spPr>
        <p:txBody>
          <a:bodyPr wrap="square" lIns="0" tIns="0" rIns="0" bIns="0" rtlCol="0" anchor="ctr"/>
          <a:lstStyle/>
          <a:p>
            <a:pPr algn="ctr" indent="0" marL="0">
              <a:buNone/>
            </a:pPr>
            <a:r>
              <a:rPr lang="en-US" sz="2400" b="1" dirty="0">
                <a:solidFill>
                  <a:srgbClr val="1F6FB2"/>
                </a:solidFill>
                <a:latin typeface="Cambria" pitchFamily="34" charset="0"/>
                <a:ea typeface="Cambria" pitchFamily="34" charset="-122"/>
                <a:cs typeface="Cambria" pitchFamily="34" charset="-120"/>
              </a:rPr>
              <a:t>+11,17</a:t>
            </a:r>
            <a:endParaRPr lang="en-US" sz="2400" dirty="0"/>
          </a:p>
        </p:txBody>
      </p:sp>
      <p:sp>
        <p:nvSpPr>
          <p:cNvPr id="8" name="Text 4"/>
          <p:cNvSpPr txBox="1"/>
          <p:nvPr/>
        </p:nvSpPr>
        <p:spPr>
          <a:xfrm>
            <a:off x="7498080" y="2514600"/>
            <a:ext cx="1325880" cy="365760"/>
          </a:xfrm>
          <a:prstGeom prst="rect">
            <a:avLst/>
          </a:prstGeom>
          <a:noFill/>
          <a:ln/>
        </p:spPr>
        <p:txBody>
          <a:bodyPr wrap="square" lIns="0" tIns="0" rIns="0" bIns="0" rtlCol="0" anchor="ctr"/>
          <a:lstStyle/>
          <a:p>
            <a:pPr algn="ctr" indent="0" marL="0">
              <a:buNone/>
            </a:pPr>
            <a:r>
              <a:rPr lang="en-US" sz="1200" dirty="0">
                <a:solidFill>
                  <a:srgbClr val="5F6673"/>
                </a:solidFill>
                <a:latin typeface="Calibri" pitchFamily="34" charset="0"/>
                <a:ea typeface="Calibri" pitchFamily="34" charset="-122"/>
                <a:cs typeface="Calibri" pitchFamily="34" charset="-120"/>
              </a:rPr>
              <a:t>SD → SMP</a:t>
            </a:r>
            <a:endParaRPr lang="en-US" sz="1200" dirty="0"/>
          </a:p>
        </p:txBody>
      </p:sp>
      <p:sp>
        <p:nvSpPr>
          <p:cNvPr id="9" name="Kartu"/>
          <p:cNvSpPr/>
          <p:nvPr/>
        </p:nvSpPr>
        <p:spPr>
          <a:xfrm>
            <a:off x="8915400" y="1783080"/>
            <a:ext cx="1325880" cy="1234440"/>
          </a:xfrm>
          <a:prstGeom prst="roundRect">
            <a:avLst>
              <a:gd name="adj" fmla="val 8889"/>
            </a:avLst>
          </a:prstGeom>
          <a:solidFill>
            <a:srgbClr val="FFFFFF"/>
          </a:solidFill>
          <a:ln w="9525">
            <a:solidFill>
              <a:srgbClr val="DDE2EA"/>
            </a:solidFill>
            <a:prstDash val="solid"/>
          </a:ln>
          <a:effectLst>
            <a:outerShdw sx="100000" sy="100000" kx="0" ky="0" algn="bl" rotWithShape="0" blurRad="101600" dist="25400" dir="5400000">
              <a:srgbClr val="000000">
                <a:alpha val="8000"/>
              </a:srgbClr>
            </a:outerShdw>
          </a:effectLst>
        </p:spPr>
      </p:sp>
      <p:sp>
        <p:nvSpPr>
          <p:cNvPr id="10" name="Text 6"/>
          <p:cNvSpPr txBox="1"/>
          <p:nvPr/>
        </p:nvSpPr>
        <p:spPr>
          <a:xfrm>
            <a:off x="8915400" y="1920240"/>
            <a:ext cx="1325880" cy="548640"/>
          </a:xfrm>
          <a:prstGeom prst="rect">
            <a:avLst/>
          </a:prstGeom>
          <a:noFill/>
          <a:ln/>
        </p:spPr>
        <p:txBody>
          <a:bodyPr wrap="square" lIns="0" tIns="0" rIns="0" bIns="0" rtlCol="0" anchor="ctr"/>
          <a:lstStyle/>
          <a:p>
            <a:pPr algn="ctr" indent="0" marL="0">
              <a:buNone/>
            </a:pPr>
            <a:r>
              <a:rPr lang="en-US" sz="2400" b="1" dirty="0">
                <a:solidFill>
                  <a:srgbClr val="A9451F"/>
                </a:solidFill>
                <a:latin typeface="Cambria" pitchFamily="34" charset="0"/>
                <a:ea typeface="Cambria" pitchFamily="34" charset="-122"/>
                <a:cs typeface="Cambria" pitchFamily="34" charset="-120"/>
              </a:rPr>
              <a:t>−6,65</a:t>
            </a:r>
            <a:endParaRPr lang="en-US" sz="2400" dirty="0"/>
          </a:p>
        </p:txBody>
      </p:sp>
      <p:sp>
        <p:nvSpPr>
          <p:cNvPr id="11" name="Text 7"/>
          <p:cNvSpPr txBox="1"/>
          <p:nvPr/>
        </p:nvSpPr>
        <p:spPr>
          <a:xfrm>
            <a:off x="8915400" y="2514600"/>
            <a:ext cx="1325880" cy="365760"/>
          </a:xfrm>
          <a:prstGeom prst="rect">
            <a:avLst/>
          </a:prstGeom>
          <a:noFill/>
          <a:ln/>
        </p:spPr>
        <p:txBody>
          <a:bodyPr wrap="square" lIns="0" tIns="0" rIns="0" bIns="0" rtlCol="0" anchor="ctr"/>
          <a:lstStyle/>
          <a:p>
            <a:pPr algn="ctr" indent="0" marL="0">
              <a:buNone/>
            </a:pPr>
            <a:r>
              <a:rPr lang="en-US" sz="1200" dirty="0">
                <a:solidFill>
                  <a:srgbClr val="5F6673"/>
                </a:solidFill>
                <a:latin typeface="Calibri" pitchFamily="34" charset="0"/>
                <a:ea typeface="Calibri" pitchFamily="34" charset="-122"/>
                <a:cs typeface="Calibri" pitchFamily="34" charset="-120"/>
              </a:rPr>
              <a:t>SMP → SMA</a:t>
            </a:r>
            <a:endParaRPr lang="en-US" sz="1200" dirty="0"/>
          </a:p>
        </p:txBody>
      </p:sp>
      <p:sp>
        <p:nvSpPr>
          <p:cNvPr id="12" name="Kartu"/>
          <p:cNvSpPr/>
          <p:nvPr/>
        </p:nvSpPr>
        <p:spPr>
          <a:xfrm>
            <a:off x="10332720" y="1783080"/>
            <a:ext cx="1325880" cy="1234440"/>
          </a:xfrm>
          <a:prstGeom prst="roundRect">
            <a:avLst>
              <a:gd name="adj" fmla="val 8889"/>
            </a:avLst>
          </a:prstGeom>
          <a:solidFill>
            <a:srgbClr val="FFFFFF"/>
          </a:solidFill>
          <a:ln w="9525">
            <a:solidFill>
              <a:srgbClr val="DDE2EA"/>
            </a:solidFill>
            <a:prstDash val="solid"/>
          </a:ln>
          <a:effectLst>
            <a:outerShdw sx="100000" sy="100000" kx="0" ky="0" algn="bl" rotWithShape="0" blurRad="101600" dist="25400" dir="5400000">
              <a:srgbClr val="000000">
                <a:alpha val="8000"/>
              </a:srgbClr>
            </a:outerShdw>
          </a:effectLst>
        </p:spPr>
      </p:sp>
      <p:sp>
        <p:nvSpPr>
          <p:cNvPr id="13" name="Text 9"/>
          <p:cNvSpPr txBox="1"/>
          <p:nvPr/>
        </p:nvSpPr>
        <p:spPr>
          <a:xfrm>
            <a:off x="10332720" y="1920240"/>
            <a:ext cx="1325880" cy="548640"/>
          </a:xfrm>
          <a:prstGeom prst="rect">
            <a:avLst/>
          </a:prstGeom>
          <a:noFill/>
          <a:ln/>
        </p:spPr>
        <p:txBody>
          <a:bodyPr wrap="square" lIns="0" tIns="0" rIns="0" bIns="0" rtlCol="0" anchor="ctr"/>
          <a:lstStyle/>
          <a:p>
            <a:pPr algn="ctr" indent="0" marL="0">
              <a:buNone/>
            </a:pPr>
            <a:r>
              <a:rPr lang="en-US" sz="2400" b="1" dirty="0">
                <a:solidFill>
                  <a:srgbClr val="A9451F"/>
                </a:solidFill>
                <a:latin typeface="Cambria" pitchFamily="34" charset="0"/>
                <a:ea typeface="Cambria" pitchFamily="34" charset="-122"/>
                <a:cs typeface="Cambria" pitchFamily="34" charset="-120"/>
              </a:rPr>
              <a:t>−9,19</a:t>
            </a:r>
            <a:endParaRPr lang="en-US" sz="2400" dirty="0"/>
          </a:p>
        </p:txBody>
      </p:sp>
      <p:sp>
        <p:nvSpPr>
          <p:cNvPr id="14" name="Text 10"/>
          <p:cNvSpPr txBox="1"/>
          <p:nvPr/>
        </p:nvSpPr>
        <p:spPr>
          <a:xfrm>
            <a:off x="10332720" y="2514600"/>
            <a:ext cx="1325880" cy="365760"/>
          </a:xfrm>
          <a:prstGeom prst="rect">
            <a:avLst/>
          </a:prstGeom>
          <a:noFill/>
          <a:ln/>
        </p:spPr>
        <p:txBody>
          <a:bodyPr wrap="square" lIns="0" tIns="0" rIns="0" bIns="0" rtlCol="0" anchor="ctr"/>
          <a:lstStyle/>
          <a:p>
            <a:pPr algn="ctr" indent="0" marL="0">
              <a:buNone/>
            </a:pPr>
            <a:r>
              <a:rPr lang="en-US" sz="1200" dirty="0">
                <a:solidFill>
                  <a:srgbClr val="5F6673"/>
                </a:solidFill>
                <a:latin typeface="Calibri" pitchFamily="34" charset="0"/>
                <a:ea typeface="Calibri" pitchFamily="34" charset="-122"/>
                <a:cs typeface="Calibri" pitchFamily="34" charset="-120"/>
              </a:rPr>
              <a:t>SMP → SMK</a:t>
            </a:r>
            <a:endParaRPr lang="en-US" sz="1200" dirty="0"/>
          </a:p>
        </p:txBody>
      </p:sp>
      <p:sp>
        <p:nvSpPr>
          <p:cNvPr id="15" name="Sorotan"/>
          <p:cNvSpPr/>
          <p:nvPr/>
        </p:nvSpPr>
        <p:spPr>
          <a:xfrm>
            <a:off x="7498080" y="3246120"/>
            <a:ext cx="4142232" cy="2743200"/>
          </a:xfrm>
          <a:prstGeom prst="roundRect">
            <a:avLst>
              <a:gd name="adj" fmla="val 4000"/>
            </a:avLst>
          </a:prstGeom>
          <a:solidFill>
            <a:srgbClr val="13213A"/>
          </a:solidFill>
          <a:ln w="12700">
            <a:solidFill>
              <a:srgbClr val="13213A"/>
            </a:solidFill>
            <a:prstDash val="solid"/>
          </a:ln>
        </p:spPr>
      </p:sp>
      <p:sp>
        <p:nvSpPr>
          <p:cNvPr id="16" name="Text 12"/>
          <p:cNvSpPr txBox="1"/>
          <p:nvPr/>
        </p:nvSpPr>
        <p:spPr>
          <a:xfrm>
            <a:off x="7772400" y="3383280"/>
            <a:ext cx="3657600" cy="1005840"/>
          </a:xfrm>
          <a:prstGeom prst="rect">
            <a:avLst/>
          </a:prstGeom>
          <a:noFill/>
          <a:ln/>
        </p:spPr>
        <p:txBody>
          <a:bodyPr wrap="square" lIns="0" tIns="0" rIns="0" bIns="0" rtlCol="0" anchor="ctr"/>
          <a:lstStyle/>
          <a:p>
            <a:pPr indent="0" marL="0">
              <a:buNone/>
            </a:pPr>
            <a:r>
              <a:rPr lang="en-US" sz="6000" b="1" dirty="0">
                <a:solidFill>
                  <a:srgbClr val="E3A83A"/>
                </a:solidFill>
                <a:latin typeface="Cambria" pitchFamily="34" charset="0"/>
                <a:ea typeface="Cambria" pitchFamily="34" charset="-122"/>
                <a:cs typeface="Cambria" pitchFamily="34" charset="-120"/>
              </a:rPr>
              <a:t>87,2%</a:t>
            </a:r>
            <a:endParaRPr lang="en-US" sz="6000" dirty="0"/>
          </a:p>
        </p:txBody>
      </p:sp>
      <p:sp>
        <p:nvSpPr>
          <p:cNvPr id="17" name="Text 13"/>
          <p:cNvSpPr txBox="1"/>
          <p:nvPr/>
        </p:nvSpPr>
        <p:spPr>
          <a:xfrm>
            <a:off x="7772400" y="4434840"/>
            <a:ext cx="3657600" cy="731520"/>
          </a:xfrm>
          <a:prstGeom prst="rect">
            <a:avLst/>
          </a:prstGeom>
          <a:noFill/>
          <a:ln/>
        </p:spPr>
        <p:txBody>
          <a:bodyPr wrap="square" lIns="0" tIns="0" rIns="0" bIns="0" rtlCol="0" anchor="t"/>
          <a:lstStyle/>
          <a:p>
            <a:pPr indent="0" marL="0">
              <a:buNone/>
            </a:pPr>
            <a:r>
              <a:rPr lang="en-US" sz="1700" b="1" dirty="0">
                <a:solidFill>
                  <a:srgbClr val="F6F4EF"/>
                </a:solidFill>
                <a:latin typeface="Calibri" pitchFamily="34" charset="0"/>
                <a:ea typeface="Calibri" pitchFamily="34" charset="-122"/>
                <a:cs typeface="Calibri" pitchFamily="34" charset="-120"/>
              </a:rPr>
              <a:t>kabupaten/kota mengalami penurunan numerasi dari SMP ke SMA.</a:t>
            </a:r>
            <a:endParaRPr lang="en-US" sz="1700" dirty="0"/>
          </a:p>
        </p:txBody>
      </p:sp>
      <p:sp>
        <p:nvSpPr>
          <p:cNvPr id="18" name="Text 14"/>
          <p:cNvSpPr txBox="1"/>
          <p:nvPr/>
        </p:nvSpPr>
        <p:spPr>
          <a:xfrm>
            <a:off x="7772400" y="5166360"/>
            <a:ext cx="3657600" cy="777240"/>
          </a:xfrm>
          <a:prstGeom prst="rect">
            <a:avLst/>
          </a:prstGeom>
          <a:noFill/>
          <a:ln/>
        </p:spPr>
        <p:txBody>
          <a:bodyPr wrap="square" lIns="0" tIns="0" rIns="0" bIns="0" rtlCol="0" anchor="t"/>
          <a:lstStyle/>
          <a:p>
            <a:pPr indent="0" marL="0">
              <a:buNone/>
            </a:pPr>
            <a:r>
              <a:rPr lang="en-US" sz="1300" dirty="0">
                <a:solidFill>
                  <a:srgbClr val="DCE3EC"/>
                </a:solidFill>
                <a:latin typeface="Calibri" pitchFamily="34" charset="0"/>
                <a:ea typeface="Calibri" pitchFamily="34" charset="-122"/>
                <a:cs typeface="Calibri" pitchFamily="34" charset="-120"/>
              </a:rPr>
              <a:t>Dugaan: lompatan ke materi abstrak tanpa fondasi kuat; jam matematika SMK tergerus praktik kejuruan.</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Eyebrow"/>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200" kern="0" dirty="0">
                <a:solidFill>
                  <a:srgbClr val="A9451F"/>
                </a:solidFill>
                <a:latin typeface="Calibri" pitchFamily="34" charset="0"/>
                <a:ea typeface="Calibri" pitchFamily="34" charset="-122"/>
                <a:cs typeface="Calibri" pitchFamily="34" charset="-120"/>
              </a:rPr>
              <a:t>TEMUAN 4 · DETERMINAN LOKAL (MGWR)</a:t>
            </a:r>
            <a:endParaRPr lang="en-US" sz="1300" dirty="0"/>
          </a:p>
        </p:txBody>
      </p:sp>
      <p:sp>
        <p:nvSpPr>
          <p:cNvPr id="4" name="Judul"/>
          <p:cNvSpPr txBox="1"/>
          <p:nvPr/>
        </p:nvSpPr>
        <p:spPr>
          <a:xfrm>
            <a:off x="548640" y="713232"/>
            <a:ext cx="11064240" cy="868680"/>
          </a:xfrm>
          <a:prstGeom prst="rect">
            <a:avLst/>
          </a:prstGeom>
          <a:noFill/>
          <a:ln/>
        </p:spPr>
        <p:txBody>
          <a:bodyPr wrap="square" lIns="0" tIns="0" rIns="0" bIns="0" rtlCol="0" anchor="t"/>
          <a:lstStyle/>
          <a:p>
            <a:pPr indent="0" marL="0">
              <a:buNone/>
            </a:pPr>
            <a:r>
              <a:rPr lang="en-US" sz="3400" b="1" dirty="0">
                <a:solidFill>
                  <a:srgbClr val="13213A"/>
                </a:solidFill>
                <a:latin typeface="Cambria" pitchFamily="34" charset="0"/>
                <a:ea typeface="Cambria" pitchFamily="34" charset="-122"/>
                <a:cs typeface="Cambria" pitchFamily="34" charset="-120"/>
              </a:rPr>
              <a:t>Satu kebijakan, dampak berbeda tiap wilayah</a:t>
            </a:r>
            <a:endParaRPr lang="en-US" sz="3400" dirty="0"/>
          </a:p>
        </p:txBody>
      </p:sp>
      <p:sp>
        <p:nvSpPr>
          <p:cNvPr id="5" name="SLOT PETA MGWR 1"/>
          <p:cNvSpPr/>
          <p:nvPr/>
        </p:nvSpPr>
        <p:spPr>
          <a:xfrm>
            <a:off x="548640" y="1691640"/>
            <a:ext cx="5440680" cy="2926080"/>
          </a:xfrm>
          <a:prstGeom prst="roundRect">
            <a:avLst>
              <a:gd name="adj" fmla="val 3750"/>
            </a:avLst>
          </a:prstGeom>
          <a:solidFill>
            <a:srgbClr val="EEF1F6"/>
          </a:solidFill>
          <a:ln w="19050">
            <a:solidFill>
              <a:srgbClr val="9AA6B8"/>
            </a:solidFill>
            <a:prstDash val="dash"/>
          </a:ln>
        </p:spPr>
      </p:sp>
      <p:sp>
        <p:nvSpPr>
          <p:cNvPr id="6" name="Text 3"/>
          <p:cNvSpPr txBox="1"/>
          <p:nvPr/>
        </p:nvSpPr>
        <p:spPr>
          <a:xfrm>
            <a:off x="548640" y="1691640"/>
            <a:ext cx="5440680" cy="2926080"/>
          </a:xfrm>
          <a:prstGeom prst="rect">
            <a:avLst/>
          </a:prstGeom>
          <a:noFill/>
          <a:ln/>
        </p:spPr>
        <p:txBody>
          <a:bodyPr wrap="square" lIns="1905" tIns="1905" rIns="1905" bIns="1905" rtlCol="0" anchor="ctr"/>
          <a:lstStyle/>
          <a:p>
            <a:pPr algn="ctr" indent="0" marL="0">
              <a:buNone/>
            </a:pPr>
            <a:r>
              <a:rPr lang="en-US" sz="1200" b="1" dirty="0">
                <a:solidFill>
                  <a:srgbClr val="6B7787"/>
                </a:solidFill>
                <a:latin typeface="Calibri" pitchFamily="34" charset="0"/>
                <a:ea typeface="Calibri" pitchFamily="34" charset="-122"/>
                <a:cs typeface="Calibri" pitchFamily="34" charset="-120"/>
              </a:rPr>
              <a:t>SLOT GAMBAR</a:t>
            </a:r>
            <a:endParaRPr lang="en-US" sz="1200" dirty="0"/>
          </a:p>
          <a:p>
            <a:pPr algn="ctr" indent="0" marL="0">
              <a:buNone/>
            </a:pPr>
            <a:r>
              <a:rPr lang="en-US" sz="1300" dirty="0">
                <a:solidFill>
                  <a:srgbClr val="6B7787"/>
                </a:solidFill>
                <a:latin typeface="Calibri" pitchFamily="34" charset="0"/>
                <a:ea typeface="Calibri" pitchFamily="34" charset="-122"/>
                <a:cs typeface="Calibri" pitchFamily="34" charset="-120"/>
              </a:rPr>
              <a:t>Peta MGWR: pengaruh kualitas pembelajaran (SMP)</a:t>
            </a:r>
            <a:endParaRPr lang="en-US" sz="1200" dirty="0"/>
          </a:p>
        </p:txBody>
      </p:sp>
      <p:sp>
        <p:nvSpPr>
          <p:cNvPr id="7" name="SLOT PETA MGWR 2"/>
          <p:cNvSpPr/>
          <p:nvPr/>
        </p:nvSpPr>
        <p:spPr>
          <a:xfrm>
            <a:off x="6199632" y="1691640"/>
            <a:ext cx="5440680" cy="2926080"/>
          </a:xfrm>
          <a:prstGeom prst="roundRect">
            <a:avLst>
              <a:gd name="adj" fmla="val 3750"/>
            </a:avLst>
          </a:prstGeom>
          <a:solidFill>
            <a:srgbClr val="EEF1F6"/>
          </a:solidFill>
          <a:ln w="19050">
            <a:solidFill>
              <a:srgbClr val="9AA6B8"/>
            </a:solidFill>
            <a:prstDash val="dash"/>
          </a:ln>
        </p:spPr>
      </p:sp>
      <p:sp>
        <p:nvSpPr>
          <p:cNvPr id="8" name="Text 5"/>
          <p:cNvSpPr txBox="1"/>
          <p:nvPr/>
        </p:nvSpPr>
        <p:spPr>
          <a:xfrm>
            <a:off x="6199632" y="1691640"/>
            <a:ext cx="5440680" cy="2926080"/>
          </a:xfrm>
          <a:prstGeom prst="rect">
            <a:avLst/>
          </a:prstGeom>
          <a:noFill/>
          <a:ln/>
        </p:spPr>
        <p:txBody>
          <a:bodyPr wrap="square" lIns="1905" tIns="1905" rIns="1905" bIns="1905" rtlCol="0" anchor="ctr"/>
          <a:lstStyle/>
          <a:p>
            <a:pPr algn="ctr" indent="0" marL="0">
              <a:buNone/>
            </a:pPr>
            <a:r>
              <a:rPr lang="en-US" sz="1200" b="1" dirty="0">
                <a:solidFill>
                  <a:srgbClr val="6B7787"/>
                </a:solidFill>
                <a:latin typeface="Calibri" pitchFamily="34" charset="0"/>
                <a:ea typeface="Calibri" pitchFamily="34" charset="-122"/>
                <a:cs typeface="Calibri" pitchFamily="34" charset="-120"/>
              </a:rPr>
              <a:t>SLOT GAMBAR</a:t>
            </a:r>
            <a:endParaRPr lang="en-US" sz="1200" dirty="0"/>
          </a:p>
          <a:p>
            <a:pPr algn="ctr" indent="0" marL="0">
              <a:buNone/>
            </a:pPr>
            <a:r>
              <a:rPr lang="en-US" sz="1300" dirty="0">
                <a:solidFill>
                  <a:srgbClr val="6B7787"/>
                </a:solidFill>
                <a:latin typeface="Calibri" pitchFamily="34" charset="0"/>
                <a:ea typeface="Calibri" pitchFamily="34" charset="-122"/>
                <a:cs typeface="Calibri" pitchFamily="34" charset="-120"/>
              </a:rPr>
              <a:t>Peta MGWR: pengaruh listrik sekolah (SD)</a:t>
            </a:r>
            <a:endParaRPr lang="en-US" sz="1200" dirty="0"/>
          </a:p>
        </p:txBody>
      </p:sp>
      <p:sp>
        <p:nvSpPr>
          <p:cNvPr id="9" name="Text 6"/>
          <p:cNvSpPr txBox="1"/>
          <p:nvPr/>
        </p:nvSpPr>
        <p:spPr>
          <a:xfrm>
            <a:off x="548640" y="4663440"/>
            <a:ext cx="10972800" cy="274320"/>
          </a:xfrm>
          <a:prstGeom prst="rect">
            <a:avLst/>
          </a:prstGeom>
          <a:noFill/>
          <a:ln/>
        </p:spPr>
        <p:txBody>
          <a:bodyPr wrap="square" lIns="0" tIns="0" rIns="0" bIns="0" rtlCol="0" anchor="ctr"/>
          <a:lstStyle/>
          <a:p>
            <a:pPr indent="0" marL="0">
              <a:buNone/>
            </a:pPr>
            <a:r>
              <a:rPr lang="en-US" sz="1100" dirty="0">
                <a:solidFill>
                  <a:srgbClr val="5F6673"/>
                </a:solidFill>
                <a:latin typeface="Calibri" pitchFamily="34" charset="0"/>
                <a:ea typeface="Calibri" pitchFamily="34" charset="-122"/>
                <a:cs typeface="Calibri" pitchFamily="34" charset="-120"/>
              </a:rPr>
              <a:t>Warna lebih gelap berarti pengaruh lebih besar</a:t>
            </a:r>
            <a:endParaRPr lang="en-US" sz="1100" dirty="0"/>
          </a:p>
        </p:txBody>
      </p:sp>
      <p:sp>
        <p:nvSpPr>
          <p:cNvPr id="10" name="Kartu"/>
          <p:cNvSpPr/>
          <p:nvPr/>
        </p:nvSpPr>
        <p:spPr>
          <a:xfrm>
            <a:off x="548640" y="5029200"/>
            <a:ext cx="3593592" cy="1234440"/>
          </a:xfrm>
          <a:prstGeom prst="roundRect">
            <a:avLst>
              <a:gd name="adj" fmla="val 8889"/>
            </a:avLst>
          </a:prstGeom>
          <a:solidFill>
            <a:srgbClr val="FFFFFF"/>
          </a:solidFill>
          <a:ln w="9525">
            <a:solidFill>
              <a:srgbClr val="DDE2EA"/>
            </a:solidFill>
            <a:prstDash val="solid"/>
          </a:ln>
          <a:effectLst>
            <a:outerShdw sx="100000" sy="100000" kx="0" ky="0" algn="bl" rotWithShape="0" blurRad="101600" dist="25400" dir="5400000">
              <a:srgbClr val="000000">
                <a:alpha val="8000"/>
              </a:srgbClr>
            </a:outerShdw>
          </a:effectLst>
        </p:spPr>
      </p:sp>
      <p:sp>
        <p:nvSpPr>
          <p:cNvPr id="11" name="Penanda"/>
          <p:cNvSpPr/>
          <p:nvPr/>
        </p:nvSpPr>
        <p:spPr>
          <a:xfrm>
            <a:off x="749808" y="5166360"/>
            <a:ext cx="274320" cy="274320"/>
          </a:xfrm>
          <a:prstGeom prst="ellipse">
            <a:avLst/>
          </a:prstGeom>
          <a:solidFill>
            <a:srgbClr val="1F6FB2"/>
          </a:solidFill>
          <a:ln w="12700">
            <a:solidFill>
              <a:srgbClr val="1F6FB2"/>
            </a:solidFill>
            <a:prstDash val="solid"/>
          </a:ln>
        </p:spPr>
      </p:sp>
      <p:sp>
        <p:nvSpPr>
          <p:cNvPr id="12" name="Text 9"/>
          <p:cNvSpPr txBox="1"/>
          <p:nvPr/>
        </p:nvSpPr>
        <p:spPr>
          <a:xfrm>
            <a:off x="1143000" y="5148072"/>
            <a:ext cx="2834640" cy="320040"/>
          </a:xfrm>
          <a:prstGeom prst="rect">
            <a:avLst/>
          </a:prstGeom>
          <a:noFill/>
          <a:ln/>
        </p:spPr>
        <p:txBody>
          <a:bodyPr wrap="square" lIns="0" tIns="0" rIns="0" bIns="0" rtlCol="0" anchor="ctr"/>
          <a:lstStyle/>
          <a:p>
            <a:pPr indent="0" marL="0">
              <a:buNone/>
            </a:pPr>
            <a:r>
              <a:rPr lang="en-US" sz="1500" b="1" dirty="0">
                <a:solidFill>
                  <a:srgbClr val="13213A"/>
                </a:solidFill>
                <a:latin typeface="Cambria" pitchFamily="34" charset="0"/>
                <a:ea typeface="Cambria" pitchFamily="34" charset="-122"/>
                <a:cs typeface="Cambria" pitchFamily="34" charset="-120"/>
              </a:rPr>
              <a:t>Skala nasional</a:t>
            </a:r>
            <a:endParaRPr lang="en-US" sz="1500" dirty="0"/>
          </a:p>
        </p:txBody>
      </p:sp>
      <p:sp>
        <p:nvSpPr>
          <p:cNvPr id="13" name="Text 10"/>
          <p:cNvSpPr txBox="1"/>
          <p:nvPr/>
        </p:nvSpPr>
        <p:spPr>
          <a:xfrm>
            <a:off x="749808" y="5532120"/>
            <a:ext cx="3246120" cy="685800"/>
          </a:xfrm>
          <a:prstGeom prst="rect">
            <a:avLst/>
          </a:prstGeom>
          <a:noFill/>
          <a:ln/>
        </p:spPr>
        <p:txBody>
          <a:bodyPr wrap="square" lIns="0" tIns="0" rIns="0" bIns="0" rtlCol="0" anchor="t"/>
          <a:lstStyle/>
          <a:p>
            <a:pPr indent="0" marL="0">
              <a:buNone/>
            </a:pPr>
            <a:r>
              <a:rPr lang="en-US" sz="1200" dirty="0">
                <a:solidFill>
                  <a:srgbClr val="5F6673"/>
                </a:solidFill>
                <a:latin typeface="Calibri" pitchFamily="34" charset="0"/>
                <a:ea typeface="Calibri" pitchFamily="34" charset="-122"/>
                <a:cs typeface="Calibri" pitchFamily="34" charset="-120"/>
              </a:rPr>
              <a:t>Kualitas pembelajaran D.1 dan iklim keamanan D.4 signifikan di 100% kab/kota (SD).</a:t>
            </a:r>
            <a:endParaRPr lang="en-US" sz="1200" dirty="0"/>
          </a:p>
        </p:txBody>
      </p:sp>
      <p:sp>
        <p:nvSpPr>
          <p:cNvPr id="14" name="Kartu"/>
          <p:cNvSpPr/>
          <p:nvPr/>
        </p:nvSpPr>
        <p:spPr>
          <a:xfrm>
            <a:off x="4297680" y="5029200"/>
            <a:ext cx="3593592" cy="1234440"/>
          </a:xfrm>
          <a:prstGeom prst="roundRect">
            <a:avLst>
              <a:gd name="adj" fmla="val 8889"/>
            </a:avLst>
          </a:prstGeom>
          <a:solidFill>
            <a:srgbClr val="FFFFFF"/>
          </a:solidFill>
          <a:ln w="9525">
            <a:solidFill>
              <a:srgbClr val="DDE2EA"/>
            </a:solidFill>
            <a:prstDash val="solid"/>
          </a:ln>
          <a:effectLst>
            <a:outerShdw sx="100000" sy="100000" kx="0" ky="0" algn="bl" rotWithShape="0" blurRad="101600" dist="25400" dir="5400000">
              <a:srgbClr val="000000">
                <a:alpha val="8000"/>
              </a:srgbClr>
            </a:outerShdw>
          </a:effectLst>
        </p:spPr>
      </p:sp>
      <p:sp>
        <p:nvSpPr>
          <p:cNvPr id="15" name="Penanda"/>
          <p:cNvSpPr/>
          <p:nvPr/>
        </p:nvSpPr>
        <p:spPr>
          <a:xfrm>
            <a:off x="4498848" y="5166360"/>
            <a:ext cx="274320" cy="274320"/>
          </a:xfrm>
          <a:prstGeom prst="ellipse">
            <a:avLst/>
          </a:prstGeom>
          <a:solidFill>
            <a:srgbClr val="D99A1E"/>
          </a:solidFill>
          <a:ln w="12700">
            <a:solidFill>
              <a:srgbClr val="D99A1E"/>
            </a:solidFill>
            <a:prstDash val="solid"/>
          </a:ln>
        </p:spPr>
      </p:sp>
      <p:sp>
        <p:nvSpPr>
          <p:cNvPr id="16" name="Text 13"/>
          <p:cNvSpPr txBox="1"/>
          <p:nvPr/>
        </p:nvSpPr>
        <p:spPr>
          <a:xfrm>
            <a:off x="4892040" y="5148072"/>
            <a:ext cx="2834640" cy="320040"/>
          </a:xfrm>
          <a:prstGeom prst="rect">
            <a:avLst/>
          </a:prstGeom>
          <a:noFill/>
          <a:ln/>
        </p:spPr>
        <p:txBody>
          <a:bodyPr wrap="square" lIns="0" tIns="0" rIns="0" bIns="0" rtlCol="0" anchor="ctr"/>
          <a:lstStyle/>
          <a:p>
            <a:pPr indent="0" marL="0">
              <a:buNone/>
            </a:pPr>
            <a:r>
              <a:rPr lang="en-US" sz="1500" b="1" dirty="0">
                <a:solidFill>
                  <a:srgbClr val="13213A"/>
                </a:solidFill>
                <a:latin typeface="Cambria" pitchFamily="34" charset="0"/>
                <a:ea typeface="Cambria" pitchFamily="34" charset="-122"/>
                <a:cs typeface="Cambria" pitchFamily="34" charset="-120"/>
              </a:rPr>
              <a:t>Skala regional</a:t>
            </a:r>
            <a:endParaRPr lang="en-US" sz="1500" dirty="0"/>
          </a:p>
        </p:txBody>
      </p:sp>
      <p:sp>
        <p:nvSpPr>
          <p:cNvPr id="17" name="Text 14"/>
          <p:cNvSpPr txBox="1"/>
          <p:nvPr/>
        </p:nvSpPr>
        <p:spPr>
          <a:xfrm>
            <a:off x="4498848" y="5532120"/>
            <a:ext cx="3246120" cy="685800"/>
          </a:xfrm>
          <a:prstGeom prst="rect">
            <a:avLst/>
          </a:prstGeom>
          <a:noFill/>
          <a:ln/>
        </p:spPr>
        <p:txBody>
          <a:bodyPr wrap="square" lIns="0" tIns="0" rIns="0" bIns="0" rtlCol="0" anchor="t"/>
          <a:lstStyle/>
          <a:p>
            <a:pPr indent="0" marL="0">
              <a:buNone/>
            </a:pPr>
            <a:r>
              <a:rPr lang="en-US" sz="1200" dirty="0">
                <a:solidFill>
                  <a:srgbClr val="5F6673"/>
                </a:solidFill>
                <a:latin typeface="Calibri" pitchFamily="34" charset="0"/>
                <a:ea typeface="Calibri" pitchFamily="34" charset="-122"/>
                <a:cs typeface="Calibri" pitchFamily="34" charset="-120"/>
              </a:rPr>
              <a:t>Listrik sekolah paling berpengaruh di Jawa dan Sumatera selatan, mendekati nol di timur.</a:t>
            </a:r>
            <a:endParaRPr lang="en-US" sz="1200" dirty="0"/>
          </a:p>
        </p:txBody>
      </p:sp>
      <p:sp>
        <p:nvSpPr>
          <p:cNvPr id="18" name="Kartu"/>
          <p:cNvSpPr/>
          <p:nvPr/>
        </p:nvSpPr>
        <p:spPr>
          <a:xfrm>
            <a:off x="8046720" y="5029200"/>
            <a:ext cx="3593592" cy="1234440"/>
          </a:xfrm>
          <a:prstGeom prst="roundRect">
            <a:avLst>
              <a:gd name="adj" fmla="val 8889"/>
            </a:avLst>
          </a:prstGeom>
          <a:solidFill>
            <a:srgbClr val="FFFFFF"/>
          </a:solidFill>
          <a:ln w="9525">
            <a:solidFill>
              <a:srgbClr val="DDE2EA"/>
            </a:solidFill>
            <a:prstDash val="solid"/>
          </a:ln>
          <a:effectLst>
            <a:outerShdw sx="100000" sy="100000" kx="0" ky="0" algn="bl" rotWithShape="0" blurRad="101600" dist="25400" dir="5400000">
              <a:srgbClr val="000000">
                <a:alpha val="8000"/>
              </a:srgbClr>
            </a:outerShdw>
          </a:effectLst>
        </p:spPr>
      </p:sp>
      <p:sp>
        <p:nvSpPr>
          <p:cNvPr id="19" name="Penanda"/>
          <p:cNvSpPr/>
          <p:nvPr/>
        </p:nvSpPr>
        <p:spPr>
          <a:xfrm>
            <a:off x="8247888" y="5166360"/>
            <a:ext cx="274320" cy="274320"/>
          </a:xfrm>
          <a:prstGeom prst="ellipse">
            <a:avLst/>
          </a:prstGeom>
          <a:solidFill>
            <a:srgbClr val="C4532A"/>
          </a:solidFill>
          <a:ln w="12700">
            <a:solidFill>
              <a:srgbClr val="C4532A"/>
            </a:solidFill>
            <a:prstDash val="solid"/>
          </a:ln>
        </p:spPr>
      </p:sp>
      <p:sp>
        <p:nvSpPr>
          <p:cNvPr id="20" name="Text 17"/>
          <p:cNvSpPr txBox="1"/>
          <p:nvPr/>
        </p:nvSpPr>
        <p:spPr>
          <a:xfrm>
            <a:off x="8641080" y="5148072"/>
            <a:ext cx="2834640" cy="320040"/>
          </a:xfrm>
          <a:prstGeom prst="rect">
            <a:avLst/>
          </a:prstGeom>
          <a:noFill/>
          <a:ln/>
        </p:spPr>
        <p:txBody>
          <a:bodyPr wrap="square" lIns="0" tIns="0" rIns="0" bIns="0" rtlCol="0" anchor="ctr"/>
          <a:lstStyle/>
          <a:p>
            <a:pPr indent="0" marL="0">
              <a:buNone/>
            </a:pPr>
            <a:r>
              <a:rPr lang="en-US" sz="1500" b="1" dirty="0">
                <a:solidFill>
                  <a:srgbClr val="13213A"/>
                </a:solidFill>
                <a:latin typeface="Cambria" pitchFamily="34" charset="0"/>
                <a:ea typeface="Cambria" pitchFamily="34" charset="-122"/>
                <a:cs typeface="Cambria" pitchFamily="34" charset="-120"/>
              </a:rPr>
              <a:t>Kekuatan model</a:t>
            </a:r>
            <a:endParaRPr lang="en-US" sz="1500" dirty="0"/>
          </a:p>
        </p:txBody>
      </p:sp>
      <p:sp>
        <p:nvSpPr>
          <p:cNvPr id="21" name="Text 18"/>
          <p:cNvSpPr txBox="1"/>
          <p:nvPr/>
        </p:nvSpPr>
        <p:spPr>
          <a:xfrm>
            <a:off x="8247888" y="5532120"/>
            <a:ext cx="3246120" cy="685800"/>
          </a:xfrm>
          <a:prstGeom prst="rect">
            <a:avLst/>
          </a:prstGeom>
          <a:noFill/>
          <a:ln/>
        </p:spPr>
        <p:txBody>
          <a:bodyPr wrap="square" lIns="0" tIns="0" rIns="0" bIns="0" rtlCol="0" anchor="t"/>
          <a:lstStyle/>
          <a:p>
            <a:pPr indent="0" marL="0">
              <a:buNone/>
            </a:pPr>
            <a:r>
              <a:rPr lang="en-US" sz="1200" dirty="0">
                <a:solidFill>
                  <a:srgbClr val="5F6673"/>
                </a:solidFill>
                <a:latin typeface="Calibri" pitchFamily="34" charset="0"/>
                <a:ea typeface="Calibri" pitchFamily="34" charset="-122"/>
                <a:cs typeface="Calibri" pitchFamily="34" charset="-120"/>
              </a:rPr>
              <a:t>MGWR komposit: Adj R² 0,757, validasi spasial R² 0,770.</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Eyebrow"/>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200" kern="0" dirty="0">
                <a:solidFill>
                  <a:srgbClr val="A9451F"/>
                </a:solidFill>
                <a:latin typeface="Calibri" pitchFamily="34" charset="0"/>
                <a:ea typeface="Calibri" pitchFamily="34" charset="-122"/>
                <a:cs typeface="Calibri" pitchFamily="34" charset="-120"/>
              </a:rPr>
              <a:t>TEMUAN 5 · PENGGERAK NUMERASI (TREESHAP)</a:t>
            </a:r>
            <a:endParaRPr lang="en-US" sz="1300" dirty="0"/>
          </a:p>
        </p:txBody>
      </p:sp>
      <p:sp>
        <p:nvSpPr>
          <p:cNvPr id="4" name="Judul"/>
          <p:cNvSpPr txBox="1"/>
          <p:nvPr/>
        </p:nvSpPr>
        <p:spPr>
          <a:xfrm>
            <a:off x="548640" y="713232"/>
            <a:ext cx="11064240" cy="868680"/>
          </a:xfrm>
          <a:prstGeom prst="rect">
            <a:avLst/>
          </a:prstGeom>
          <a:noFill/>
          <a:ln/>
        </p:spPr>
        <p:txBody>
          <a:bodyPr wrap="square" lIns="0" tIns="0" rIns="0" bIns="0" rtlCol="0" anchor="t"/>
          <a:lstStyle/>
          <a:p>
            <a:pPr indent="0" marL="0">
              <a:buNone/>
            </a:pPr>
            <a:r>
              <a:rPr lang="en-US" sz="3400" b="1" dirty="0">
                <a:solidFill>
                  <a:srgbClr val="13213A"/>
                </a:solidFill>
                <a:latin typeface="Cambria" pitchFamily="34" charset="0"/>
                <a:ea typeface="Cambria" pitchFamily="34" charset="-122"/>
                <a:cs typeface="Cambria" pitchFamily="34" charset="-120"/>
              </a:rPr>
              <a:t>Pedagogi penggerak utama, keamanan kunci 3T</a:t>
            </a:r>
            <a:endParaRPr lang="en-US" sz="3400" dirty="0"/>
          </a:p>
        </p:txBody>
      </p:sp>
      <p:graphicFrame>
        <p:nvGraphicFramePr>
          <p:cNvPr id="5" name="Chart 0" descr=""/>
          <p:cNvGraphicFramePr/>
          <p:nvPr/>
        </p:nvGraphicFramePr>
        <p:xfrm>
          <a:off x="548640" y="1737360"/>
          <a:ext cx="5760720" cy="35661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6675120" y="1737360"/>
            <a:ext cx="4937760" cy="320040"/>
          </a:xfrm>
          <a:prstGeom prst="rect">
            <a:avLst/>
          </a:prstGeom>
          <a:noFill/>
          <a:ln/>
        </p:spPr>
        <p:txBody>
          <a:bodyPr wrap="square" lIns="0" tIns="0" rIns="0" bIns="0" rtlCol="0" anchor="ctr"/>
          <a:lstStyle/>
          <a:p>
            <a:pPr indent="0" marL="0">
              <a:buNone/>
            </a:pPr>
            <a:r>
              <a:rPr lang="en-US" sz="1400" b="1" dirty="0">
                <a:solidFill>
                  <a:srgbClr val="5F6673"/>
                </a:solidFill>
                <a:latin typeface="Calibri" pitchFamily="34" charset="0"/>
                <a:ea typeface="Calibri" pitchFamily="34" charset="-122"/>
                <a:cs typeface="Calibri" pitchFamily="34" charset="-120"/>
              </a:rPr>
              <a:t>Sensitivitas wilayah 3T dibanding Benchmark</a:t>
            </a:r>
            <a:endParaRPr lang="en-US" sz="1400" dirty="0"/>
          </a:p>
        </p:txBody>
      </p:sp>
      <p:sp>
        <p:nvSpPr>
          <p:cNvPr id="7" name="Kartu"/>
          <p:cNvSpPr/>
          <p:nvPr/>
        </p:nvSpPr>
        <p:spPr>
          <a:xfrm>
            <a:off x="6675120" y="2148840"/>
            <a:ext cx="4965192" cy="941832"/>
          </a:xfrm>
          <a:prstGeom prst="roundRect">
            <a:avLst>
              <a:gd name="adj" fmla="val 11650"/>
            </a:avLst>
          </a:prstGeom>
          <a:solidFill>
            <a:srgbClr val="FFFFFF"/>
          </a:solidFill>
          <a:ln w="9525">
            <a:solidFill>
              <a:srgbClr val="DDE2EA"/>
            </a:solidFill>
            <a:prstDash val="solid"/>
          </a:ln>
          <a:effectLst>
            <a:outerShdw sx="100000" sy="100000" kx="0" ky="0" algn="bl" rotWithShape="0" blurRad="101600" dist="25400" dir="5400000">
              <a:srgbClr val="000000">
                <a:alpha val="8000"/>
              </a:srgbClr>
            </a:outerShdw>
          </a:effectLst>
        </p:spPr>
      </p:sp>
      <p:sp>
        <p:nvSpPr>
          <p:cNvPr id="8" name="Text 4"/>
          <p:cNvSpPr txBox="1"/>
          <p:nvPr/>
        </p:nvSpPr>
        <p:spPr>
          <a:xfrm>
            <a:off x="6858000" y="2148840"/>
            <a:ext cx="1645920" cy="941832"/>
          </a:xfrm>
          <a:prstGeom prst="rect">
            <a:avLst/>
          </a:prstGeom>
          <a:noFill/>
          <a:ln/>
        </p:spPr>
        <p:txBody>
          <a:bodyPr wrap="square" lIns="0" tIns="0" rIns="0" bIns="0" rtlCol="0" anchor="ctr"/>
          <a:lstStyle/>
          <a:p>
            <a:pPr indent="0" marL="0">
              <a:buNone/>
            </a:pPr>
            <a:r>
              <a:rPr lang="en-US" sz="3600" b="1" dirty="0">
                <a:solidFill>
                  <a:srgbClr val="A9451F"/>
                </a:solidFill>
                <a:latin typeface="Cambria" pitchFamily="34" charset="0"/>
                <a:ea typeface="Cambria" pitchFamily="34" charset="-122"/>
                <a:cs typeface="Cambria" pitchFamily="34" charset="-120"/>
              </a:rPr>
              <a:t>7,7×</a:t>
            </a:r>
            <a:endParaRPr lang="en-US" sz="3600" dirty="0"/>
          </a:p>
        </p:txBody>
      </p:sp>
      <p:sp>
        <p:nvSpPr>
          <p:cNvPr id="9" name="Text 5"/>
          <p:cNvSpPr txBox="1"/>
          <p:nvPr/>
        </p:nvSpPr>
        <p:spPr>
          <a:xfrm>
            <a:off x="8595360" y="2148840"/>
            <a:ext cx="2926080" cy="941832"/>
          </a:xfrm>
          <a:prstGeom prst="rect">
            <a:avLst/>
          </a:prstGeom>
          <a:noFill/>
          <a:ln/>
        </p:spPr>
        <p:txBody>
          <a:bodyPr wrap="square" lIns="0" tIns="0" rIns="0" bIns="0" rtlCol="0" anchor="ctr"/>
          <a:lstStyle/>
          <a:p>
            <a:pPr indent="0" marL="0">
              <a:buNone/>
            </a:pPr>
            <a:r>
              <a:rPr lang="en-US" sz="1400" b="1" dirty="0">
                <a:solidFill>
                  <a:srgbClr val="13213A"/>
                </a:solidFill>
                <a:latin typeface="Calibri" pitchFamily="34" charset="0"/>
                <a:ea typeface="Calibri" pitchFamily="34" charset="-122"/>
                <a:cs typeface="Calibri" pitchFamily="34" charset="-120"/>
              </a:rPr>
              <a:t>Iklim kebinekaan D.8</a:t>
            </a:r>
            <a:endParaRPr lang="en-US" sz="1400" dirty="0"/>
          </a:p>
          <a:p>
            <a:pPr indent="0" marL="0">
              <a:buNone/>
            </a:pPr>
            <a:r>
              <a:rPr lang="en-US" sz="1400" dirty="0">
                <a:solidFill>
                  <a:srgbClr val="5F6673"/>
                </a:solidFill>
                <a:latin typeface="Calibri" pitchFamily="34" charset="0"/>
                <a:ea typeface="Calibri" pitchFamily="34" charset="-122"/>
                <a:cs typeface="Calibri" pitchFamily="34" charset="-120"/>
              </a:rPr>
              <a:t>2,36 vs 0,31 poin</a:t>
            </a:r>
            <a:endParaRPr lang="en-US" sz="1400" dirty="0"/>
          </a:p>
        </p:txBody>
      </p:sp>
      <p:sp>
        <p:nvSpPr>
          <p:cNvPr id="10" name="Kartu"/>
          <p:cNvSpPr/>
          <p:nvPr/>
        </p:nvSpPr>
        <p:spPr>
          <a:xfrm>
            <a:off x="6675120" y="3200400"/>
            <a:ext cx="4965192" cy="941832"/>
          </a:xfrm>
          <a:prstGeom prst="roundRect">
            <a:avLst>
              <a:gd name="adj" fmla="val 11650"/>
            </a:avLst>
          </a:prstGeom>
          <a:solidFill>
            <a:srgbClr val="FFFFFF"/>
          </a:solidFill>
          <a:ln w="9525">
            <a:solidFill>
              <a:srgbClr val="DDE2EA"/>
            </a:solidFill>
            <a:prstDash val="solid"/>
          </a:ln>
          <a:effectLst>
            <a:outerShdw sx="100000" sy="100000" kx="0" ky="0" algn="bl" rotWithShape="0" blurRad="101600" dist="25400" dir="5400000">
              <a:srgbClr val="000000">
                <a:alpha val="8000"/>
              </a:srgbClr>
            </a:outerShdw>
          </a:effectLst>
        </p:spPr>
      </p:sp>
      <p:sp>
        <p:nvSpPr>
          <p:cNvPr id="11" name="Text 7"/>
          <p:cNvSpPr txBox="1"/>
          <p:nvPr/>
        </p:nvSpPr>
        <p:spPr>
          <a:xfrm>
            <a:off x="6858000" y="3200400"/>
            <a:ext cx="1645920" cy="941832"/>
          </a:xfrm>
          <a:prstGeom prst="rect">
            <a:avLst/>
          </a:prstGeom>
          <a:noFill/>
          <a:ln/>
        </p:spPr>
        <p:txBody>
          <a:bodyPr wrap="square" lIns="0" tIns="0" rIns="0" bIns="0" rtlCol="0" anchor="ctr"/>
          <a:lstStyle/>
          <a:p>
            <a:pPr indent="0" marL="0">
              <a:buNone/>
            </a:pPr>
            <a:r>
              <a:rPr lang="en-US" sz="3600" b="1" dirty="0">
                <a:solidFill>
                  <a:srgbClr val="A9451F"/>
                </a:solidFill>
                <a:latin typeface="Cambria" pitchFamily="34" charset="0"/>
                <a:ea typeface="Cambria" pitchFamily="34" charset="-122"/>
                <a:cs typeface="Cambria" pitchFamily="34" charset="-120"/>
              </a:rPr>
              <a:t>5,1×</a:t>
            </a:r>
            <a:endParaRPr lang="en-US" sz="3600" dirty="0"/>
          </a:p>
        </p:txBody>
      </p:sp>
      <p:sp>
        <p:nvSpPr>
          <p:cNvPr id="12" name="Text 8"/>
          <p:cNvSpPr txBox="1"/>
          <p:nvPr/>
        </p:nvSpPr>
        <p:spPr>
          <a:xfrm>
            <a:off x="8595360" y="3200400"/>
            <a:ext cx="2926080" cy="941832"/>
          </a:xfrm>
          <a:prstGeom prst="rect">
            <a:avLst/>
          </a:prstGeom>
          <a:noFill/>
          <a:ln/>
        </p:spPr>
        <p:txBody>
          <a:bodyPr wrap="square" lIns="0" tIns="0" rIns="0" bIns="0" rtlCol="0" anchor="ctr"/>
          <a:lstStyle/>
          <a:p>
            <a:pPr indent="0" marL="0">
              <a:buNone/>
            </a:pPr>
            <a:r>
              <a:rPr lang="en-US" sz="1400" b="1" dirty="0">
                <a:solidFill>
                  <a:srgbClr val="13213A"/>
                </a:solidFill>
                <a:latin typeface="Calibri" pitchFamily="34" charset="0"/>
                <a:ea typeface="Calibri" pitchFamily="34" charset="-122"/>
                <a:cs typeface="Calibri" pitchFamily="34" charset="-120"/>
              </a:rPr>
              <a:t>Iklim keamanan D.4</a:t>
            </a:r>
            <a:endParaRPr lang="en-US" sz="1400" dirty="0"/>
          </a:p>
          <a:p>
            <a:pPr indent="0" marL="0">
              <a:buNone/>
            </a:pPr>
            <a:r>
              <a:rPr lang="en-US" sz="1400" dirty="0">
                <a:solidFill>
                  <a:srgbClr val="5F6673"/>
                </a:solidFill>
                <a:latin typeface="Calibri" pitchFamily="34" charset="0"/>
                <a:ea typeface="Calibri" pitchFamily="34" charset="-122"/>
                <a:cs typeface="Calibri" pitchFamily="34" charset="-120"/>
              </a:rPr>
              <a:t>3,25 vs 0,64 poin</a:t>
            </a:r>
            <a:endParaRPr lang="en-US" sz="1400" dirty="0"/>
          </a:p>
        </p:txBody>
      </p:sp>
      <p:sp>
        <p:nvSpPr>
          <p:cNvPr id="13" name="Kartu"/>
          <p:cNvSpPr/>
          <p:nvPr/>
        </p:nvSpPr>
        <p:spPr>
          <a:xfrm>
            <a:off x="6675120" y="4251960"/>
            <a:ext cx="4965192" cy="941832"/>
          </a:xfrm>
          <a:prstGeom prst="roundRect">
            <a:avLst>
              <a:gd name="adj" fmla="val 11650"/>
            </a:avLst>
          </a:prstGeom>
          <a:solidFill>
            <a:srgbClr val="FFFFFF"/>
          </a:solidFill>
          <a:ln w="9525">
            <a:solidFill>
              <a:srgbClr val="DDE2EA"/>
            </a:solidFill>
            <a:prstDash val="solid"/>
          </a:ln>
          <a:effectLst>
            <a:outerShdw sx="100000" sy="100000" kx="0" ky="0" algn="bl" rotWithShape="0" blurRad="101600" dist="25400" dir="5400000">
              <a:srgbClr val="000000">
                <a:alpha val="8000"/>
              </a:srgbClr>
            </a:outerShdw>
          </a:effectLst>
        </p:spPr>
      </p:sp>
      <p:sp>
        <p:nvSpPr>
          <p:cNvPr id="14" name="Text 10"/>
          <p:cNvSpPr txBox="1"/>
          <p:nvPr/>
        </p:nvSpPr>
        <p:spPr>
          <a:xfrm>
            <a:off x="6858000" y="4251960"/>
            <a:ext cx="1645920" cy="941832"/>
          </a:xfrm>
          <a:prstGeom prst="rect">
            <a:avLst/>
          </a:prstGeom>
          <a:noFill/>
          <a:ln/>
        </p:spPr>
        <p:txBody>
          <a:bodyPr wrap="square" lIns="0" tIns="0" rIns="0" bIns="0" rtlCol="0" anchor="ctr"/>
          <a:lstStyle/>
          <a:p>
            <a:pPr indent="0" marL="0">
              <a:buNone/>
            </a:pPr>
            <a:r>
              <a:rPr lang="en-US" sz="3600" b="1" dirty="0">
                <a:solidFill>
                  <a:srgbClr val="A9451F"/>
                </a:solidFill>
                <a:latin typeface="Cambria" pitchFamily="34" charset="0"/>
                <a:ea typeface="Cambria" pitchFamily="34" charset="-122"/>
                <a:cs typeface="Cambria" pitchFamily="34" charset="-120"/>
              </a:rPr>
              <a:t>4,0×</a:t>
            </a:r>
            <a:endParaRPr lang="en-US" sz="3600" dirty="0"/>
          </a:p>
        </p:txBody>
      </p:sp>
      <p:sp>
        <p:nvSpPr>
          <p:cNvPr id="15" name="Text 11"/>
          <p:cNvSpPr txBox="1"/>
          <p:nvPr/>
        </p:nvSpPr>
        <p:spPr>
          <a:xfrm>
            <a:off x="8595360" y="4251960"/>
            <a:ext cx="2926080" cy="941832"/>
          </a:xfrm>
          <a:prstGeom prst="rect">
            <a:avLst/>
          </a:prstGeom>
          <a:noFill/>
          <a:ln/>
        </p:spPr>
        <p:txBody>
          <a:bodyPr wrap="square" lIns="0" tIns="0" rIns="0" bIns="0" rtlCol="0" anchor="ctr"/>
          <a:lstStyle/>
          <a:p>
            <a:pPr indent="0" marL="0">
              <a:buNone/>
            </a:pPr>
            <a:r>
              <a:rPr lang="en-US" sz="1400" b="1" dirty="0">
                <a:solidFill>
                  <a:srgbClr val="13213A"/>
                </a:solidFill>
                <a:latin typeface="Calibri" pitchFamily="34" charset="0"/>
                <a:ea typeface="Calibri" pitchFamily="34" charset="-122"/>
                <a:cs typeface="Calibri" pitchFamily="34" charset="-120"/>
              </a:rPr>
              <a:t>Karakter siswa A.3</a:t>
            </a:r>
            <a:endParaRPr lang="en-US" sz="1400" dirty="0"/>
          </a:p>
          <a:p>
            <a:pPr indent="0" marL="0">
              <a:buNone/>
            </a:pPr>
            <a:r>
              <a:rPr lang="en-US" sz="1400" dirty="0">
                <a:solidFill>
                  <a:srgbClr val="5F6673"/>
                </a:solidFill>
                <a:latin typeface="Calibri" pitchFamily="34" charset="0"/>
                <a:ea typeface="Calibri" pitchFamily="34" charset="-122"/>
                <a:cs typeface="Calibri" pitchFamily="34" charset="-120"/>
              </a:rPr>
              <a:t>1,97 vs 0,49 poin</a:t>
            </a:r>
            <a:endParaRPr lang="en-US" sz="1400" dirty="0"/>
          </a:p>
        </p:txBody>
      </p:sp>
      <p:sp>
        <p:nvSpPr>
          <p:cNvPr id="16" name="Pesan"/>
          <p:cNvSpPr/>
          <p:nvPr/>
        </p:nvSpPr>
        <p:spPr>
          <a:xfrm>
            <a:off x="548640" y="5440680"/>
            <a:ext cx="11091672" cy="822960"/>
          </a:xfrm>
          <a:prstGeom prst="roundRect">
            <a:avLst>
              <a:gd name="adj" fmla="val 13333"/>
            </a:avLst>
          </a:prstGeom>
          <a:solidFill>
            <a:srgbClr val="13213A"/>
          </a:solidFill>
          <a:ln w="12700">
            <a:solidFill>
              <a:srgbClr val="13213A"/>
            </a:solidFill>
            <a:prstDash val="solid"/>
          </a:ln>
        </p:spPr>
      </p:sp>
      <p:sp>
        <p:nvSpPr>
          <p:cNvPr id="17" name="Text 13"/>
          <p:cNvSpPr txBox="1"/>
          <p:nvPr/>
        </p:nvSpPr>
        <p:spPr>
          <a:xfrm>
            <a:off x="868680" y="5440680"/>
            <a:ext cx="10424160" cy="822960"/>
          </a:xfrm>
          <a:prstGeom prst="rect">
            <a:avLst/>
          </a:prstGeom>
          <a:noFill/>
          <a:ln/>
        </p:spPr>
        <p:txBody>
          <a:bodyPr wrap="square" lIns="0" tIns="0" rIns="0" bIns="0" rtlCol="0" anchor="ctr"/>
          <a:lstStyle/>
          <a:p>
            <a:pPr indent="0" marL="0">
              <a:buNone/>
            </a:pPr>
            <a:r>
              <a:rPr lang="en-US" sz="1700" b="1" dirty="0">
                <a:solidFill>
                  <a:srgbClr val="F6F4EF"/>
                </a:solidFill>
                <a:latin typeface="Calibri" pitchFamily="34" charset="0"/>
                <a:ea typeface="Calibri" pitchFamily="34" charset="-122"/>
                <a:cs typeface="Calibri" pitchFamily="34" charset="-120"/>
              </a:rPr>
              <a:t>Kualitas pembelajaran berpengaruh sama di semua klaster. Di 3T, sekolah harus aman dulu sebelum kurikulum bisa bekerja.</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Eyebrow"/>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200" kern="0" dirty="0">
                <a:solidFill>
                  <a:srgbClr val="A9451F"/>
                </a:solidFill>
                <a:latin typeface="Calibri" pitchFamily="34" charset="0"/>
                <a:ea typeface="Calibri" pitchFamily="34" charset="-122"/>
                <a:cs typeface="Calibri" pitchFamily="34" charset="-120"/>
              </a:rPr>
              <a:t>TEMUAN 6 · MODEL YANG AMAN UNTUK KEBIJAKAN</a:t>
            </a:r>
            <a:endParaRPr lang="en-US" sz="1300" dirty="0"/>
          </a:p>
        </p:txBody>
      </p:sp>
      <p:sp>
        <p:nvSpPr>
          <p:cNvPr id="4" name="Judul"/>
          <p:cNvSpPr txBox="1"/>
          <p:nvPr/>
        </p:nvSpPr>
        <p:spPr>
          <a:xfrm>
            <a:off x="548640" y="713232"/>
            <a:ext cx="11064240" cy="868680"/>
          </a:xfrm>
          <a:prstGeom prst="rect">
            <a:avLst/>
          </a:prstGeom>
          <a:noFill/>
          <a:ln/>
        </p:spPr>
        <p:txBody>
          <a:bodyPr wrap="square" lIns="0" tIns="0" rIns="0" bIns="0" rtlCol="0" anchor="t"/>
          <a:lstStyle/>
          <a:p>
            <a:pPr indent="0" marL="0">
              <a:buNone/>
            </a:pPr>
            <a:r>
              <a:rPr lang="en-US" sz="3400" b="1" dirty="0">
                <a:solidFill>
                  <a:srgbClr val="13213A"/>
                </a:solidFill>
                <a:latin typeface="Cambria" pitchFamily="34" charset="0"/>
                <a:ea typeface="Cambria" pitchFamily="34" charset="-122"/>
                <a:cs typeface="Cambria" pitchFamily="34" charset="-120"/>
              </a:rPr>
              <a:t>Model biasa bisa menyesatkan kebijakan</a:t>
            </a:r>
            <a:endParaRPr lang="en-US" sz="3400" dirty="0"/>
          </a:p>
        </p:txBody>
      </p:sp>
      <p:sp>
        <p:nvSpPr>
          <p:cNvPr id="5" name="Text 2"/>
          <p:cNvSpPr txBox="1"/>
          <p:nvPr/>
        </p:nvSpPr>
        <p:spPr>
          <a:xfrm>
            <a:off x="548640" y="1691640"/>
            <a:ext cx="11064240" cy="640080"/>
          </a:xfrm>
          <a:prstGeom prst="rect">
            <a:avLst/>
          </a:prstGeom>
          <a:noFill/>
          <a:ln/>
        </p:spPr>
        <p:txBody>
          <a:bodyPr wrap="square" lIns="0" tIns="0" rIns="0" bIns="0" rtlCol="0" anchor="t"/>
          <a:lstStyle/>
          <a:p>
            <a:pPr indent="0" marL="0">
              <a:buNone/>
            </a:pPr>
            <a:r>
              <a:rPr lang="en-US" sz="1600" dirty="0">
                <a:solidFill>
                  <a:srgbClr val="5F6673"/>
                </a:solidFill>
                <a:latin typeface="Calibri" pitchFamily="34" charset="0"/>
                <a:ea typeface="Calibri" pitchFamily="34" charset="-122"/>
                <a:cs typeface="Calibri" pitchFamily="34" charset="-120"/>
              </a:rPr>
              <a:t>Kelas padat banyak ditemui di kota yang nilainya tinggi. Model tanpa batasan membaca itu sebagai “kelas padat menaikkan nilai”.</a:t>
            </a:r>
            <a:endParaRPr lang="en-US" sz="1600" dirty="0"/>
          </a:p>
        </p:txBody>
      </p:sp>
      <p:sp>
        <p:nvSpPr>
          <p:cNvPr id="6" name="Kartu"/>
          <p:cNvSpPr/>
          <p:nvPr/>
        </p:nvSpPr>
        <p:spPr>
          <a:xfrm>
            <a:off x="548640" y="2468880"/>
            <a:ext cx="5440680" cy="2834640"/>
          </a:xfrm>
          <a:prstGeom prst="roundRect">
            <a:avLst>
              <a:gd name="adj" fmla="val 3871"/>
            </a:avLst>
          </a:prstGeom>
          <a:solidFill>
            <a:srgbClr val="FDF3EF"/>
          </a:solidFill>
          <a:ln w="9525">
            <a:solidFill>
              <a:srgbClr val="DDE2EA"/>
            </a:solidFill>
            <a:prstDash val="solid"/>
          </a:ln>
          <a:effectLst>
            <a:outerShdw sx="100000" sy="100000" kx="0" ky="0" algn="bl" rotWithShape="0" blurRad="101600" dist="25400" dir="5400000">
              <a:srgbClr val="000000">
                <a:alpha val="8000"/>
              </a:srgbClr>
            </a:outerShdw>
          </a:effectLst>
        </p:spPr>
      </p:sp>
      <p:sp>
        <p:nvSpPr>
          <p:cNvPr id="7" name="Text 4"/>
          <p:cNvSpPr txBox="1"/>
          <p:nvPr/>
        </p:nvSpPr>
        <p:spPr>
          <a:xfrm>
            <a:off x="868680" y="2651760"/>
            <a:ext cx="4754880" cy="411480"/>
          </a:xfrm>
          <a:prstGeom prst="rect">
            <a:avLst/>
          </a:prstGeom>
          <a:noFill/>
          <a:ln/>
        </p:spPr>
        <p:txBody>
          <a:bodyPr wrap="square" lIns="0" tIns="0" rIns="0" bIns="0" rtlCol="0" anchor="ctr"/>
          <a:lstStyle/>
          <a:p>
            <a:pPr indent="0" marL="0">
              <a:buNone/>
            </a:pPr>
            <a:r>
              <a:rPr lang="en-US" sz="2000" b="1" dirty="0">
                <a:solidFill>
                  <a:srgbClr val="A9451F"/>
                </a:solidFill>
                <a:latin typeface="Cambria" pitchFamily="34" charset="0"/>
                <a:ea typeface="Cambria" pitchFamily="34" charset="-122"/>
                <a:cs typeface="Cambria" pitchFamily="34" charset="-120"/>
              </a:rPr>
              <a:t>Model tanpa batasan</a:t>
            </a:r>
            <a:endParaRPr lang="en-US" sz="2000" dirty="0"/>
          </a:p>
        </p:txBody>
      </p:sp>
      <p:sp>
        <p:nvSpPr>
          <p:cNvPr id="8" name="Text 5"/>
          <p:cNvSpPr txBox="1"/>
          <p:nvPr/>
        </p:nvSpPr>
        <p:spPr>
          <a:xfrm>
            <a:off x="868680" y="3246120"/>
            <a:ext cx="1828800" cy="822960"/>
          </a:xfrm>
          <a:prstGeom prst="rect">
            <a:avLst/>
          </a:prstGeom>
          <a:noFill/>
          <a:ln/>
        </p:spPr>
        <p:txBody>
          <a:bodyPr wrap="square" lIns="0" tIns="0" rIns="0" bIns="0" rtlCol="0" anchor="ctr"/>
          <a:lstStyle/>
          <a:p>
            <a:pPr indent="0" marL="0">
              <a:buNone/>
            </a:pPr>
            <a:r>
              <a:rPr lang="en-US" sz="4000" b="1" dirty="0">
                <a:solidFill>
                  <a:srgbClr val="A9451F"/>
                </a:solidFill>
                <a:latin typeface="Cambria" pitchFamily="34" charset="0"/>
                <a:ea typeface="Cambria" pitchFamily="34" charset="-122"/>
                <a:cs typeface="Cambria" pitchFamily="34" charset="-120"/>
              </a:rPr>
              <a:t>−0,26</a:t>
            </a:r>
            <a:endParaRPr lang="en-US" sz="4000" dirty="0"/>
          </a:p>
        </p:txBody>
      </p:sp>
      <p:sp>
        <p:nvSpPr>
          <p:cNvPr id="9" name="Text 6"/>
          <p:cNvSpPr txBox="1"/>
          <p:nvPr/>
        </p:nvSpPr>
        <p:spPr>
          <a:xfrm>
            <a:off x="2743200" y="3246120"/>
            <a:ext cx="3017520" cy="822960"/>
          </a:xfrm>
          <a:prstGeom prst="rect">
            <a:avLst/>
          </a:prstGeom>
          <a:noFill/>
          <a:ln/>
        </p:spPr>
        <p:txBody>
          <a:bodyPr wrap="square" lIns="0" tIns="0" rIns="0" bIns="0" rtlCol="0" anchor="ctr"/>
          <a:lstStyle/>
          <a:p>
            <a:pPr indent="0" marL="0">
              <a:buNone/>
            </a:pPr>
            <a:r>
              <a:rPr lang="en-US" sz="1400" dirty="0">
                <a:solidFill>
                  <a:srgbClr val="13213A"/>
                </a:solidFill>
                <a:latin typeface="Calibri" pitchFamily="34" charset="0"/>
                <a:ea typeface="Calibri" pitchFamily="34" charset="-122"/>
                <a:cs typeface="Calibri" pitchFamily="34" charset="-120"/>
              </a:rPr>
              <a:t>rombel dikurangi 5 siswa, hanya 45,2% wilayah naik</a:t>
            </a:r>
            <a:endParaRPr lang="en-US" sz="1400" dirty="0"/>
          </a:p>
        </p:txBody>
      </p:sp>
      <p:sp>
        <p:nvSpPr>
          <p:cNvPr id="10" name="Text 7"/>
          <p:cNvSpPr txBox="1"/>
          <p:nvPr/>
        </p:nvSpPr>
        <p:spPr>
          <a:xfrm>
            <a:off x="868680" y="4251960"/>
            <a:ext cx="1828800" cy="822960"/>
          </a:xfrm>
          <a:prstGeom prst="rect">
            <a:avLst/>
          </a:prstGeom>
          <a:noFill/>
          <a:ln/>
        </p:spPr>
        <p:txBody>
          <a:bodyPr wrap="square" lIns="0" tIns="0" rIns="0" bIns="0" rtlCol="0" anchor="ctr"/>
          <a:lstStyle/>
          <a:p>
            <a:pPr indent="0" marL="0">
              <a:buNone/>
            </a:pPr>
            <a:r>
              <a:rPr lang="en-US" sz="4000" b="1" dirty="0">
                <a:solidFill>
                  <a:srgbClr val="A9451F"/>
                </a:solidFill>
                <a:latin typeface="Cambria" pitchFamily="34" charset="0"/>
                <a:ea typeface="Cambria" pitchFamily="34" charset="-122"/>
                <a:cs typeface="Cambria" pitchFamily="34" charset="-120"/>
              </a:rPr>
              <a:t>−0,08</a:t>
            </a:r>
            <a:endParaRPr lang="en-US" sz="4000" dirty="0"/>
          </a:p>
        </p:txBody>
      </p:sp>
      <p:sp>
        <p:nvSpPr>
          <p:cNvPr id="11" name="Text 8"/>
          <p:cNvSpPr txBox="1"/>
          <p:nvPr/>
        </p:nvSpPr>
        <p:spPr>
          <a:xfrm>
            <a:off x="2743200" y="4251960"/>
            <a:ext cx="3017520" cy="822960"/>
          </a:xfrm>
          <a:prstGeom prst="rect">
            <a:avLst/>
          </a:prstGeom>
          <a:noFill/>
          <a:ln/>
        </p:spPr>
        <p:txBody>
          <a:bodyPr wrap="square" lIns="0" tIns="0" rIns="0" bIns="0" rtlCol="0" anchor="ctr"/>
          <a:lstStyle/>
          <a:p>
            <a:pPr indent="0" marL="0">
              <a:buNone/>
            </a:pPr>
            <a:r>
              <a:rPr lang="en-US" sz="1400" dirty="0">
                <a:solidFill>
                  <a:srgbClr val="13213A"/>
                </a:solidFill>
                <a:latin typeface="Calibri" pitchFamily="34" charset="0"/>
                <a:ea typeface="Calibri" pitchFamily="34" charset="-122"/>
                <a:cs typeface="Calibri" pitchFamily="34" charset="-120"/>
              </a:rPr>
              <a:t>guru diratakan, hanya 50,5% wilayah naik</a:t>
            </a:r>
            <a:endParaRPr lang="en-US" sz="1400" dirty="0"/>
          </a:p>
        </p:txBody>
      </p:sp>
      <p:sp>
        <p:nvSpPr>
          <p:cNvPr id="12" name="Kartu"/>
          <p:cNvSpPr/>
          <p:nvPr/>
        </p:nvSpPr>
        <p:spPr>
          <a:xfrm>
            <a:off x="6199632" y="2468880"/>
            <a:ext cx="5440680" cy="2834640"/>
          </a:xfrm>
          <a:prstGeom prst="roundRect">
            <a:avLst>
              <a:gd name="adj" fmla="val 3871"/>
            </a:avLst>
          </a:prstGeom>
          <a:solidFill>
            <a:srgbClr val="EEF5FB"/>
          </a:solidFill>
          <a:ln w="9525">
            <a:solidFill>
              <a:srgbClr val="DDE2EA"/>
            </a:solidFill>
            <a:prstDash val="solid"/>
          </a:ln>
          <a:effectLst>
            <a:outerShdw sx="100000" sy="100000" kx="0" ky="0" algn="bl" rotWithShape="0" blurRad="101600" dist="25400" dir="5400000">
              <a:srgbClr val="000000">
                <a:alpha val="8000"/>
              </a:srgbClr>
            </a:outerShdw>
          </a:effectLst>
        </p:spPr>
      </p:sp>
      <p:sp>
        <p:nvSpPr>
          <p:cNvPr id="13" name="Text 10"/>
          <p:cNvSpPr txBox="1"/>
          <p:nvPr/>
        </p:nvSpPr>
        <p:spPr>
          <a:xfrm>
            <a:off x="6519672" y="2651760"/>
            <a:ext cx="4754880" cy="411480"/>
          </a:xfrm>
          <a:prstGeom prst="rect">
            <a:avLst/>
          </a:prstGeom>
          <a:noFill/>
          <a:ln/>
        </p:spPr>
        <p:txBody>
          <a:bodyPr wrap="square" lIns="0" tIns="0" rIns="0" bIns="0" rtlCol="0" anchor="ctr"/>
          <a:lstStyle/>
          <a:p>
            <a:pPr indent="0" marL="0">
              <a:buNone/>
            </a:pPr>
            <a:r>
              <a:rPr lang="en-US" sz="2000" b="1" dirty="0">
                <a:solidFill>
                  <a:srgbClr val="1F6FB2"/>
                </a:solidFill>
                <a:latin typeface="Cambria" pitchFamily="34" charset="0"/>
                <a:ea typeface="Cambria" pitchFamily="34" charset="-122"/>
                <a:cs typeface="Cambria" pitchFamily="34" charset="-120"/>
              </a:rPr>
              <a:t>LightGBM monotonik (usulan)</a:t>
            </a:r>
            <a:endParaRPr lang="en-US" sz="2000" dirty="0"/>
          </a:p>
        </p:txBody>
      </p:sp>
      <p:sp>
        <p:nvSpPr>
          <p:cNvPr id="14" name="Text 11"/>
          <p:cNvSpPr txBox="1"/>
          <p:nvPr/>
        </p:nvSpPr>
        <p:spPr>
          <a:xfrm>
            <a:off x="6519672" y="3246120"/>
            <a:ext cx="1828800" cy="822960"/>
          </a:xfrm>
          <a:prstGeom prst="rect">
            <a:avLst/>
          </a:prstGeom>
          <a:noFill/>
          <a:ln/>
        </p:spPr>
        <p:txBody>
          <a:bodyPr wrap="square" lIns="0" tIns="0" rIns="0" bIns="0" rtlCol="0" anchor="ctr"/>
          <a:lstStyle/>
          <a:p>
            <a:pPr indent="0" marL="0">
              <a:buNone/>
            </a:pPr>
            <a:r>
              <a:rPr lang="en-US" sz="4000" b="1" dirty="0">
                <a:solidFill>
                  <a:srgbClr val="1F6FB2"/>
                </a:solidFill>
                <a:latin typeface="Cambria" pitchFamily="34" charset="0"/>
                <a:ea typeface="Cambria" pitchFamily="34" charset="-122"/>
                <a:cs typeface="Cambria" pitchFamily="34" charset="-120"/>
              </a:rPr>
              <a:t>+0,72</a:t>
            </a:r>
            <a:endParaRPr lang="en-US" sz="4000" dirty="0"/>
          </a:p>
        </p:txBody>
      </p:sp>
      <p:sp>
        <p:nvSpPr>
          <p:cNvPr id="15" name="Text 12"/>
          <p:cNvSpPr txBox="1"/>
          <p:nvPr/>
        </p:nvSpPr>
        <p:spPr>
          <a:xfrm>
            <a:off x="8394192" y="3246120"/>
            <a:ext cx="3017520" cy="822960"/>
          </a:xfrm>
          <a:prstGeom prst="rect">
            <a:avLst/>
          </a:prstGeom>
          <a:noFill/>
          <a:ln/>
        </p:spPr>
        <p:txBody>
          <a:bodyPr wrap="square" lIns="0" tIns="0" rIns="0" bIns="0" rtlCol="0" anchor="ctr"/>
          <a:lstStyle/>
          <a:p>
            <a:pPr indent="0" marL="0">
              <a:buNone/>
            </a:pPr>
            <a:r>
              <a:rPr lang="en-US" sz="1400" dirty="0">
                <a:solidFill>
                  <a:srgbClr val="13213A"/>
                </a:solidFill>
                <a:latin typeface="Calibri" pitchFamily="34" charset="0"/>
                <a:ea typeface="Calibri" pitchFamily="34" charset="-122"/>
                <a:cs typeface="Calibri" pitchFamily="34" charset="-120"/>
              </a:rPr>
              <a:t>rombel dikurangi 5 siswa, 81,6% wilayah naik</a:t>
            </a:r>
            <a:endParaRPr lang="en-US" sz="1400" dirty="0"/>
          </a:p>
        </p:txBody>
      </p:sp>
      <p:sp>
        <p:nvSpPr>
          <p:cNvPr id="16" name="Text 13"/>
          <p:cNvSpPr txBox="1"/>
          <p:nvPr/>
        </p:nvSpPr>
        <p:spPr>
          <a:xfrm>
            <a:off x="6519672" y="4251960"/>
            <a:ext cx="1828800" cy="822960"/>
          </a:xfrm>
          <a:prstGeom prst="rect">
            <a:avLst/>
          </a:prstGeom>
          <a:noFill/>
          <a:ln/>
        </p:spPr>
        <p:txBody>
          <a:bodyPr wrap="square" lIns="0" tIns="0" rIns="0" bIns="0" rtlCol="0" anchor="ctr"/>
          <a:lstStyle/>
          <a:p>
            <a:pPr indent="0" marL="0">
              <a:buNone/>
            </a:pPr>
            <a:r>
              <a:rPr lang="en-US" sz="4000" b="1" dirty="0">
                <a:solidFill>
                  <a:srgbClr val="1F6FB2"/>
                </a:solidFill>
                <a:latin typeface="Cambria" pitchFamily="34" charset="0"/>
                <a:ea typeface="Cambria" pitchFamily="34" charset="-122"/>
                <a:cs typeface="Cambria" pitchFamily="34" charset="-120"/>
              </a:rPr>
              <a:t>+1,28</a:t>
            </a:r>
            <a:endParaRPr lang="en-US" sz="4000" dirty="0"/>
          </a:p>
        </p:txBody>
      </p:sp>
      <p:sp>
        <p:nvSpPr>
          <p:cNvPr id="17" name="Text 14"/>
          <p:cNvSpPr txBox="1"/>
          <p:nvPr/>
        </p:nvSpPr>
        <p:spPr>
          <a:xfrm>
            <a:off x="8394192" y="4251960"/>
            <a:ext cx="3017520" cy="822960"/>
          </a:xfrm>
          <a:prstGeom prst="rect">
            <a:avLst/>
          </a:prstGeom>
          <a:noFill/>
          <a:ln/>
        </p:spPr>
        <p:txBody>
          <a:bodyPr wrap="square" lIns="0" tIns="0" rIns="0" bIns="0" rtlCol="0" anchor="ctr"/>
          <a:lstStyle/>
          <a:p>
            <a:pPr indent="0" marL="0">
              <a:buNone/>
            </a:pPr>
            <a:r>
              <a:rPr lang="en-US" sz="1400" dirty="0">
                <a:solidFill>
                  <a:srgbClr val="13213A"/>
                </a:solidFill>
                <a:latin typeface="Calibri" pitchFamily="34" charset="0"/>
                <a:ea typeface="Calibri" pitchFamily="34" charset="-122"/>
                <a:cs typeface="Calibri" pitchFamily="34" charset="-120"/>
              </a:rPr>
              <a:t>guru diratakan, 90,2% wilayah naik</a:t>
            </a:r>
            <a:endParaRPr lang="en-US" sz="1400" dirty="0"/>
          </a:p>
        </p:txBody>
      </p:sp>
      <p:sp>
        <p:nvSpPr>
          <p:cNvPr id="18" name="Pesan"/>
          <p:cNvSpPr/>
          <p:nvPr/>
        </p:nvSpPr>
        <p:spPr>
          <a:xfrm>
            <a:off x="548640" y="5486400"/>
            <a:ext cx="11091672" cy="731520"/>
          </a:xfrm>
          <a:prstGeom prst="roundRect">
            <a:avLst>
              <a:gd name="adj" fmla="val 15000"/>
            </a:avLst>
          </a:prstGeom>
          <a:solidFill>
            <a:srgbClr val="13213A"/>
          </a:solidFill>
          <a:ln w="12700">
            <a:solidFill>
              <a:srgbClr val="13213A"/>
            </a:solidFill>
            <a:prstDash val="solid"/>
          </a:ln>
        </p:spPr>
      </p:sp>
      <p:sp>
        <p:nvSpPr>
          <p:cNvPr id="19" name="Text 16"/>
          <p:cNvSpPr txBox="1"/>
          <p:nvPr/>
        </p:nvSpPr>
        <p:spPr>
          <a:xfrm>
            <a:off x="868680" y="5486400"/>
            <a:ext cx="10424160" cy="731520"/>
          </a:xfrm>
          <a:prstGeom prst="rect">
            <a:avLst/>
          </a:prstGeom>
          <a:noFill/>
          <a:ln/>
        </p:spPr>
        <p:txBody>
          <a:bodyPr wrap="square" lIns="0" tIns="0" rIns="0" bIns="0" rtlCol="0" anchor="ctr"/>
          <a:lstStyle/>
          <a:p>
            <a:pPr indent="0" marL="0">
              <a:buNone/>
            </a:pPr>
            <a:r>
              <a:rPr lang="en-US" sz="1600" b="1" dirty="0">
                <a:solidFill>
                  <a:srgbClr val="F6F4EF"/>
                </a:solidFill>
                <a:latin typeface="Calibri" pitchFamily="34" charset="0"/>
                <a:ea typeface="Calibri" pitchFamily="34" charset="-122"/>
                <a:cs typeface="Calibri" pitchFamily="34" charset="-120"/>
              </a:rPr>
              <a:t>Akurasi hampir sama: R² 0,648 vs terbaik 0,649, dan 0,577 pada provinsi yang tidak pernah dilihat model.</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Eyebrow"/>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200" kern="0" dirty="0">
                <a:solidFill>
                  <a:srgbClr val="A9451F"/>
                </a:solidFill>
                <a:latin typeface="Calibri" pitchFamily="34" charset="0"/>
                <a:ea typeface="Calibri" pitchFamily="34" charset="-122"/>
                <a:cs typeface="Calibri" pitchFamily="34" charset="-120"/>
              </a:rPr>
              <a:t>SIMULASI WHAT-IF</a:t>
            </a:r>
            <a:endParaRPr lang="en-US" sz="1300" dirty="0"/>
          </a:p>
        </p:txBody>
      </p:sp>
      <p:sp>
        <p:nvSpPr>
          <p:cNvPr id="4" name="Judul"/>
          <p:cNvSpPr txBox="1"/>
          <p:nvPr/>
        </p:nvSpPr>
        <p:spPr>
          <a:xfrm>
            <a:off x="548640" y="713232"/>
            <a:ext cx="11064240" cy="868680"/>
          </a:xfrm>
          <a:prstGeom prst="rect">
            <a:avLst/>
          </a:prstGeom>
          <a:noFill/>
          <a:ln/>
        </p:spPr>
        <p:txBody>
          <a:bodyPr wrap="square" lIns="0" tIns="0" rIns="0" bIns="0" rtlCol="0" anchor="t"/>
          <a:lstStyle/>
          <a:p>
            <a:pPr indent="0" marL="0">
              <a:buNone/>
            </a:pPr>
            <a:r>
              <a:rPr lang="en-US" sz="3400" b="1" dirty="0">
                <a:solidFill>
                  <a:srgbClr val="13213A"/>
                </a:solidFill>
                <a:latin typeface="Cambria" pitchFamily="34" charset="0"/>
                <a:ea typeface="Cambria" pitchFamily="34" charset="-122"/>
                <a:cs typeface="Cambria" pitchFamily="34" charset="-120"/>
              </a:rPr>
              <a:t>Paket terpadu: +6,80 poin numerasi</a:t>
            </a:r>
            <a:endParaRPr lang="en-US" sz="3400" dirty="0"/>
          </a:p>
        </p:txBody>
      </p:sp>
      <p:sp>
        <p:nvSpPr>
          <p:cNvPr id="5" name="Sorotan"/>
          <p:cNvSpPr/>
          <p:nvPr/>
        </p:nvSpPr>
        <p:spPr>
          <a:xfrm>
            <a:off x="548640" y="1783080"/>
            <a:ext cx="4114800" cy="4023360"/>
          </a:xfrm>
          <a:prstGeom prst="roundRect">
            <a:avLst>
              <a:gd name="adj" fmla="val 2727"/>
            </a:avLst>
          </a:prstGeom>
          <a:solidFill>
            <a:srgbClr val="13213A"/>
          </a:solidFill>
          <a:ln w="12700">
            <a:solidFill>
              <a:srgbClr val="13213A"/>
            </a:solidFill>
            <a:prstDash val="solid"/>
          </a:ln>
        </p:spPr>
      </p:sp>
      <p:sp>
        <p:nvSpPr>
          <p:cNvPr id="6" name="Text 3"/>
          <p:cNvSpPr txBox="1"/>
          <p:nvPr/>
        </p:nvSpPr>
        <p:spPr>
          <a:xfrm>
            <a:off x="822960" y="2103120"/>
            <a:ext cx="3566160" cy="1097280"/>
          </a:xfrm>
          <a:prstGeom prst="rect">
            <a:avLst/>
          </a:prstGeom>
          <a:noFill/>
          <a:ln/>
        </p:spPr>
        <p:txBody>
          <a:bodyPr wrap="square" lIns="0" tIns="0" rIns="0" bIns="0" rtlCol="0" anchor="ctr"/>
          <a:lstStyle/>
          <a:p>
            <a:pPr indent="0" marL="0">
              <a:buNone/>
            </a:pPr>
            <a:r>
              <a:rPr lang="en-US" sz="6600" b="1" dirty="0">
                <a:solidFill>
                  <a:srgbClr val="E3A83A"/>
                </a:solidFill>
                <a:latin typeface="Cambria" pitchFamily="34" charset="0"/>
                <a:ea typeface="Cambria" pitchFamily="34" charset="-122"/>
                <a:cs typeface="Cambria" pitchFamily="34" charset="-120"/>
              </a:rPr>
              <a:t>+6,80</a:t>
            </a:r>
            <a:endParaRPr lang="en-US" sz="6600" dirty="0"/>
          </a:p>
        </p:txBody>
      </p:sp>
      <p:sp>
        <p:nvSpPr>
          <p:cNvPr id="7" name="Text 4"/>
          <p:cNvSpPr txBox="1"/>
          <p:nvPr/>
        </p:nvSpPr>
        <p:spPr>
          <a:xfrm>
            <a:off x="822960" y="3291840"/>
            <a:ext cx="3566160" cy="822960"/>
          </a:xfrm>
          <a:prstGeom prst="rect">
            <a:avLst/>
          </a:prstGeom>
          <a:noFill/>
          <a:ln/>
        </p:spPr>
        <p:txBody>
          <a:bodyPr wrap="square" lIns="0" tIns="0" rIns="0" bIns="0" rtlCol="0" anchor="t"/>
          <a:lstStyle/>
          <a:p>
            <a:pPr indent="0" marL="0">
              <a:buNone/>
            </a:pPr>
            <a:r>
              <a:rPr lang="en-US" sz="1700" b="1" dirty="0">
                <a:solidFill>
                  <a:srgbClr val="F6F4EF"/>
                </a:solidFill>
                <a:latin typeface="Calibri" pitchFamily="34" charset="0"/>
                <a:ea typeface="Calibri" pitchFamily="34" charset="-122"/>
                <a:cs typeface="Calibri" pitchFamily="34" charset="-120"/>
              </a:rPr>
              <a:t>rata-rata nasional, 97,5% unit wilayah-jenjang naik</a:t>
            </a:r>
            <a:endParaRPr lang="en-US" sz="1700" dirty="0"/>
          </a:p>
        </p:txBody>
      </p:sp>
      <p:sp>
        <p:nvSpPr>
          <p:cNvPr id="8" name="Text 5"/>
          <p:cNvSpPr txBox="1"/>
          <p:nvPr/>
        </p:nvSpPr>
        <p:spPr>
          <a:xfrm>
            <a:off x="822960" y="4206240"/>
            <a:ext cx="3566160" cy="1371600"/>
          </a:xfrm>
          <a:prstGeom prst="rect">
            <a:avLst/>
          </a:prstGeom>
          <a:noFill/>
          <a:ln/>
        </p:spPr>
        <p:txBody>
          <a:bodyPr wrap="square" lIns="0" tIns="0" rIns="0" bIns="0" rtlCol="0" anchor="t"/>
          <a:lstStyle/>
          <a:p>
            <a:pPr indent="0" marL="0">
              <a:buNone/>
            </a:pPr>
            <a:r>
              <a:rPr lang="en-US" sz="1400" dirty="0">
                <a:solidFill>
                  <a:srgbClr val="DCE3EC"/>
                </a:solidFill>
                <a:latin typeface="Calibri" pitchFamily="34" charset="0"/>
                <a:ea typeface="Calibri" pitchFamily="34" charset="-122"/>
                <a:cs typeface="Calibri" pitchFamily="34" charset="-120"/>
              </a:rPr>
              <a:t>Paket: mutu pedagogik, rombel lebih kecil, pemerataan guru, listrik dan air bersih minimal 98%.</a:t>
            </a:r>
            <a:endParaRPr lang="en-US" sz="1400" dirty="0"/>
          </a:p>
        </p:txBody>
      </p:sp>
      <p:graphicFrame>
        <p:nvGraphicFramePr>
          <p:cNvPr id="9" name="Chart 0" descr=""/>
          <p:cNvGraphicFramePr/>
          <p:nvPr/>
        </p:nvGraphicFramePr>
        <p:xfrm>
          <a:off x="4937760" y="1783080"/>
          <a:ext cx="6702552" cy="402336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548640" y="5943600"/>
            <a:ext cx="11064240" cy="274320"/>
          </a:xfrm>
          <a:prstGeom prst="rect">
            <a:avLst/>
          </a:prstGeom>
          <a:noFill/>
          <a:ln/>
        </p:spPr>
        <p:txBody>
          <a:bodyPr wrap="square" lIns="0" tIns="0" rIns="0" bIns="0" rtlCol="0" anchor="ctr"/>
          <a:lstStyle/>
          <a:p>
            <a:pPr indent="0" marL="0">
              <a:buNone/>
            </a:pPr>
            <a:r>
              <a:rPr lang="en-US" sz="1200" i="1" dirty="0">
                <a:solidFill>
                  <a:srgbClr val="5F6673"/>
                </a:solidFill>
                <a:latin typeface="Calibri" pitchFamily="34" charset="0"/>
                <a:ea typeface="Calibri" pitchFamily="34" charset="-122"/>
                <a:cs typeface="Calibri" pitchFamily="34" charset="-120"/>
              </a:rPr>
              <a:t>ΔY = estimasi model dari pola data lintas wilayah 2025, bukan dampak kausal</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Eyebrow"/>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200" kern="0" dirty="0">
                <a:solidFill>
                  <a:srgbClr val="A9451F"/>
                </a:solidFill>
                <a:latin typeface="Calibri" pitchFamily="34" charset="0"/>
                <a:ea typeface="Calibri" pitchFamily="34" charset="-122"/>
                <a:cs typeface="Calibri" pitchFamily="34" charset="-120"/>
              </a:rPr>
              <a:t>REKOMENDASI</a:t>
            </a:r>
            <a:endParaRPr lang="en-US" sz="1300" dirty="0"/>
          </a:p>
        </p:txBody>
      </p:sp>
      <p:sp>
        <p:nvSpPr>
          <p:cNvPr id="4" name="Judul"/>
          <p:cNvSpPr txBox="1"/>
          <p:nvPr/>
        </p:nvSpPr>
        <p:spPr>
          <a:xfrm>
            <a:off x="548640" y="713232"/>
            <a:ext cx="11064240" cy="868680"/>
          </a:xfrm>
          <a:prstGeom prst="rect">
            <a:avLst/>
          </a:prstGeom>
          <a:noFill/>
          <a:ln/>
        </p:spPr>
        <p:txBody>
          <a:bodyPr wrap="square" lIns="0" tIns="0" rIns="0" bIns="0" rtlCol="0" anchor="t"/>
          <a:lstStyle/>
          <a:p>
            <a:pPr indent="0" marL="0">
              <a:buNone/>
            </a:pPr>
            <a:r>
              <a:rPr lang="en-US" sz="3400" b="1" dirty="0">
                <a:solidFill>
                  <a:srgbClr val="13213A"/>
                </a:solidFill>
                <a:latin typeface="Cambria" pitchFamily="34" charset="0"/>
                <a:ea typeface="Cambria" pitchFamily="34" charset="-122"/>
                <a:cs typeface="Cambria" pitchFamily="34" charset="-120"/>
              </a:rPr>
              <a:t>Intervensi harus sesuai tipologi</a:t>
            </a:r>
            <a:endParaRPr lang="en-US" sz="3400" dirty="0"/>
          </a:p>
        </p:txBody>
      </p:sp>
      <p:sp>
        <p:nvSpPr>
          <p:cNvPr id="5" name="Kartu"/>
          <p:cNvSpPr/>
          <p:nvPr/>
        </p:nvSpPr>
        <p:spPr>
          <a:xfrm>
            <a:off x="548640" y="1783080"/>
            <a:ext cx="3593592" cy="4434840"/>
          </a:xfrm>
          <a:prstGeom prst="roundRect">
            <a:avLst>
              <a:gd name="adj" fmla="val 3053"/>
            </a:avLst>
          </a:prstGeom>
          <a:solidFill>
            <a:srgbClr val="FFFFFF"/>
          </a:solidFill>
          <a:ln w="9525">
            <a:solidFill>
              <a:srgbClr val="DDE2EA"/>
            </a:solidFill>
            <a:prstDash val="solid"/>
          </a:ln>
          <a:effectLst>
            <a:outerShdw sx="100000" sy="100000" kx="0" ky="0" algn="bl" rotWithShape="0" blurRad="101600" dist="25400" dir="5400000">
              <a:srgbClr val="000000">
                <a:alpha val="8000"/>
              </a:srgbClr>
            </a:outerShdw>
          </a:effectLst>
        </p:spPr>
      </p:sp>
      <p:sp>
        <p:nvSpPr>
          <p:cNvPr id="6" name="Penanda"/>
          <p:cNvSpPr/>
          <p:nvPr/>
        </p:nvSpPr>
        <p:spPr>
          <a:xfrm>
            <a:off x="822960" y="2011680"/>
            <a:ext cx="365760" cy="365760"/>
          </a:xfrm>
          <a:prstGeom prst="ellipse">
            <a:avLst/>
          </a:prstGeom>
          <a:solidFill>
            <a:srgbClr val="C4532A"/>
          </a:solidFill>
          <a:ln w="12700">
            <a:solidFill>
              <a:srgbClr val="C4532A"/>
            </a:solidFill>
            <a:prstDash val="solid"/>
          </a:ln>
        </p:spPr>
      </p:sp>
      <p:sp>
        <p:nvSpPr>
          <p:cNvPr id="7" name="Text 4"/>
          <p:cNvSpPr txBox="1"/>
          <p:nvPr/>
        </p:nvSpPr>
        <p:spPr>
          <a:xfrm>
            <a:off x="1325880" y="2011680"/>
            <a:ext cx="2651760" cy="365760"/>
          </a:xfrm>
          <a:prstGeom prst="rect">
            <a:avLst/>
          </a:prstGeom>
          <a:noFill/>
          <a:ln/>
        </p:spPr>
        <p:txBody>
          <a:bodyPr wrap="square" lIns="0" tIns="0" rIns="0" bIns="0" rtlCol="0" anchor="ctr"/>
          <a:lstStyle/>
          <a:p>
            <a:pPr indent="0" marL="0">
              <a:buNone/>
            </a:pPr>
            <a:r>
              <a:rPr lang="en-US" sz="2200" b="1" dirty="0">
                <a:solidFill>
                  <a:srgbClr val="13213A"/>
                </a:solidFill>
                <a:latin typeface="Cambria" pitchFamily="34" charset="0"/>
                <a:ea typeface="Cambria" pitchFamily="34" charset="-122"/>
                <a:cs typeface="Cambria" pitchFamily="34" charset="-120"/>
              </a:rPr>
              <a:t>Afirmasi 3T</a:t>
            </a:r>
            <a:endParaRPr lang="en-US" sz="2200" dirty="0"/>
          </a:p>
        </p:txBody>
      </p:sp>
      <p:sp>
        <p:nvSpPr>
          <p:cNvPr id="8" name="Text 5"/>
          <p:cNvSpPr txBox="1"/>
          <p:nvPr/>
        </p:nvSpPr>
        <p:spPr>
          <a:xfrm>
            <a:off x="822960" y="2560320"/>
            <a:ext cx="3108960" cy="320040"/>
          </a:xfrm>
          <a:prstGeom prst="rect">
            <a:avLst/>
          </a:prstGeom>
          <a:noFill/>
          <a:ln/>
        </p:spPr>
        <p:txBody>
          <a:bodyPr wrap="square" lIns="0" tIns="0" rIns="0" bIns="0" rtlCol="0" anchor="ctr"/>
          <a:lstStyle/>
          <a:p>
            <a:pPr indent="0" marL="0">
              <a:buNone/>
            </a:pPr>
            <a:r>
              <a:rPr lang="en-US" sz="1300" dirty="0">
                <a:solidFill>
                  <a:srgbClr val="5F6673"/>
                </a:solidFill>
                <a:latin typeface="Calibri" pitchFamily="34" charset="0"/>
                <a:ea typeface="Calibri" pitchFamily="34" charset="-122"/>
                <a:cs typeface="Calibri" pitchFamily="34" charset="-120"/>
              </a:rPr>
              <a:t>120 unit · rerata 38,29</a:t>
            </a:r>
            <a:endParaRPr lang="en-US" sz="1300" dirty="0"/>
          </a:p>
        </p:txBody>
      </p:sp>
      <p:sp>
        <p:nvSpPr>
          <p:cNvPr id="9" name="Text 6"/>
          <p:cNvSpPr txBox="1"/>
          <p:nvPr/>
        </p:nvSpPr>
        <p:spPr>
          <a:xfrm>
            <a:off x="822960" y="3017520"/>
            <a:ext cx="310896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3213A"/>
                </a:solidFill>
                <a:latin typeface="Calibri" pitchFamily="34" charset="0"/>
                <a:ea typeface="Calibri" pitchFamily="34" charset="-122"/>
                <a:cs typeface="Calibri" pitchFamily="34" charset="-120"/>
              </a:rPr>
              <a:t>Sekolah aman dan anti-perundungan</a:t>
            </a:r>
            <a:endParaRPr lang="en-US" sz="1500" dirty="0"/>
          </a:p>
          <a:p>
            <a:pPr marL="342900" indent="-342900">
              <a:spcAft>
                <a:spcPts val="600"/>
              </a:spcAft>
              <a:buSzPct val="100000"/>
              <a:buChar char="•"/>
            </a:pPr>
            <a:r>
              <a:rPr lang="en-US" sz="1500" dirty="0">
                <a:solidFill>
                  <a:srgbClr val="13213A"/>
                </a:solidFill>
                <a:latin typeface="Calibri" pitchFamily="34" charset="0"/>
                <a:ea typeface="Calibri" pitchFamily="34" charset="-122"/>
                <a:cs typeface="Calibri" pitchFamily="34" charset="-120"/>
              </a:rPr>
              <a:t>Listrik, air bersih, dan TIK dasar</a:t>
            </a:r>
            <a:endParaRPr lang="en-US" sz="1500" dirty="0"/>
          </a:p>
        </p:txBody>
      </p:sp>
      <p:sp>
        <p:nvSpPr>
          <p:cNvPr id="10" name="Text 7"/>
          <p:cNvSpPr txBox="1"/>
          <p:nvPr/>
        </p:nvSpPr>
        <p:spPr>
          <a:xfrm>
            <a:off x="822960" y="4754880"/>
            <a:ext cx="3108960" cy="457200"/>
          </a:xfrm>
          <a:prstGeom prst="rect">
            <a:avLst/>
          </a:prstGeom>
          <a:noFill/>
          <a:ln/>
        </p:spPr>
        <p:txBody>
          <a:bodyPr wrap="square" lIns="0" tIns="0" rIns="0" bIns="0" rtlCol="0" anchor="t"/>
          <a:lstStyle/>
          <a:p>
            <a:pPr indent="0" marL="0">
              <a:buNone/>
            </a:pPr>
            <a:r>
              <a:rPr lang="en-US" sz="1200" dirty="0">
                <a:solidFill>
                  <a:srgbClr val="5F6673"/>
                </a:solidFill>
                <a:latin typeface="Calibri" pitchFamily="34" charset="0"/>
                <a:ea typeface="Calibri" pitchFamily="34" charset="-122"/>
                <a:cs typeface="Calibri" pitchFamily="34" charset="-120"/>
              </a:rPr>
              <a:t>Potensi paket terpadu</a:t>
            </a:r>
            <a:endParaRPr lang="en-US" sz="1200" dirty="0"/>
          </a:p>
        </p:txBody>
      </p:sp>
      <p:sp>
        <p:nvSpPr>
          <p:cNvPr id="11" name="Text 8"/>
          <p:cNvSpPr txBox="1"/>
          <p:nvPr/>
        </p:nvSpPr>
        <p:spPr>
          <a:xfrm>
            <a:off x="822960" y="5257800"/>
            <a:ext cx="3108960" cy="777240"/>
          </a:xfrm>
          <a:prstGeom prst="rect">
            <a:avLst/>
          </a:prstGeom>
          <a:noFill/>
          <a:ln/>
        </p:spPr>
        <p:txBody>
          <a:bodyPr wrap="square" lIns="0" tIns="0" rIns="0" bIns="0" rtlCol="0" anchor="ctr"/>
          <a:lstStyle/>
          <a:p>
            <a:pPr indent="0" marL="0">
              <a:buNone/>
            </a:pPr>
            <a:r>
              <a:rPr lang="en-US" sz="4400" b="1" dirty="0">
                <a:solidFill>
                  <a:srgbClr val="A9451F"/>
                </a:solidFill>
                <a:latin typeface="Cambria" pitchFamily="34" charset="0"/>
                <a:ea typeface="Cambria" pitchFamily="34" charset="-122"/>
                <a:cs typeface="Cambria" pitchFamily="34" charset="-120"/>
              </a:rPr>
              <a:t>+6,31</a:t>
            </a:r>
            <a:endParaRPr lang="en-US" sz="4400" dirty="0"/>
          </a:p>
        </p:txBody>
      </p:sp>
      <p:sp>
        <p:nvSpPr>
          <p:cNvPr id="12" name="Kartu"/>
          <p:cNvSpPr/>
          <p:nvPr/>
        </p:nvSpPr>
        <p:spPr>
          <a:xfrm>
            <a:off x="4297680" y="1783080"/>
            <a:ext cx="3593592" cy="4434840"/>
          </a:xfrm>
          <a:prstGeom prst="roundRect">
            <a:avLst>
              <a:gd name="adj" fmla="val 3053"/>
            </a:avLst>
          </a:prstGeom>
          <a:solidFill>
            <a:srgbClr val="FFFFFF"/>
          </a:solidFill>
          <a:ln w="9525">
            <a:solidFill>
              <a:srgbClr val="DDE2EA"/>
            </a:solidFill>
            <a:prstDash val="solid"/>
          </a:ln>
          <a:effectLst>
            <a:outerShdw sx="100000" sy="100000" kx="0" ky="0" algn="bl" rotWithShape="0" blurRad="101600" dist="25400" dir="5400000">
              <a:srgbClr val="000000">
                <a:alpha val="8000"/>
              </a:srgbClr>
            </a:outerShdw>
          </a:effectLst>
        </p:spPr>
      </p:sp>
      <p:sp>
        <p:nvSpPr>
          <p:cNvPr id="13" name="Penanda"/>
          <p:cNvSpPr/>
          <p:nvPr/>
        </p:nvSpPr>
        <p:spPr>
          <a:xfrm>
            <a:off x="4572000" y="2011680"/>
            <a:ext cx="365760" cy="365760"/>
          </a:xfrm>
          <a:prstGeom prst="ellipse">
            <a:avLst/>
          </a:prstGeom>
          <a:solidFill>
            <a:srgbClr val="D99A1E"/>
          </a:solidFill>
          <a:ln w="12700">
            <a:solidFill>
              <a:srgbClr val="D99A1E"/>
            </a:solidFill>
            <a:prstDash val="solid"/>
          </a:ln>
        </p:spPr>
      </p:sp>
      <p:sp>
        <p:nvSpPr>
          <p:cNvPr id="14" name="Text 11"/>
          <p:cNvSpPr txBox="1"/>
          <p:nvPr/>
        </p:nvSpPr>
        <p:spPr>
          <a:xfrm>
            <a:off x="5074920" y="2011680"/>
            <a:ext cx="2651760" cy="365760"/>
          </a:xfrm>
          <a:prstGeom prst="rect">
            <a:avLst/>
          </a:prstGeom>
          <a:noFill/>
          <a:ln/>
        </p:spPr>
        <p:txBody>
          <a:bodyPr wrap="square" lIns="0" tIns="0" rIns="0" bIns="0" rtlCol="0" anchor="ctr"/>
          <a:lstStyle/>
          <a:p>
            <a:pPr indent="0" marL="0">
              <a:buNone/>
            </a:pPr>
            <a:r>
              <a:rPr lang="en-US" sz="2200" b="1" dirty="0">
                <a:solidFill>
                  <a:srgbClr val="13213A"/>
                </a:solidFill>
                <a:latin typeface="Cambria" pitchFamily="34" charset="0"/>
                <a:ea typeface="Cambria" pitchFamily="34" charset="-122"/>
                <a:cs typeface="Cambria" pitchFamily="34" charset="-120"/>
              </a:rPr>
              <a:t>Paradoks Sarpras</a:t>
            </a:r>
            <a:endParaRPr lang="en-US" sz="2200" dirty="0"/>
          </a:p>
        </p:txBody>
      </p:sp>
      <p:sp>
        <p:nvSpPr>
          <p:cNvPr id="15" name="Text 12"/>
          <p:cNvSpPr txBox="1"/>
          <p:nvPr/>
        </p:nvSpPr>
        <p:spPr>
          <a:xfrm>
            <a:off x="4572000" y="2560320"/>
            <a:ext cx="3108960" cy="320040"/>
          </a:xfrm>
          <a:prstGeom prst="rect">
            <a:avLst/>
          </a:prstGeom>
          <a:noFill/>
          <a:ln/>
        </p:spPr>
        <p:txBody>
          <a:bodyPr wrap="square" lIns="0" tIns="0" rIns="0" bIns="0" rtlCol="0" anchor="ctr"/>
          <a:lstStyle/>
          <a:p>
            <a:pPr indent="0" marL="0">
              <a:buNone/>
            </a:pPr>
            <a:r>
              <a:rPr lang="en-US" sz="1300" dirty="0">
                <a:solidFill>
                  <a:srgbClr val="5F6673"/>
                </a:solidFill>
                <a:latin typeface="Calibri" pitchFamily="34" charset="0"/>
                <a:ea typeface="Calibri" pitchFamily="34" charset="-122"/>
                <a:cs typeface="Calibri" pitchFamily="34" charset="-120"/>
              </a:rPr>
              <a:t>948 unit · rerata 53,27</a:t>
            </a:r>
            <a:endParaRPr lang="en-US" sz="1300" dirty="0"/>
          </a:p>
        </p:txBody>
      </p:sp>
      <p:sp>
        <p:nvSpPr>
          <p:cNvPr id="16" name="Text 13"/>
          <p:cNvSpPr txBox="1"/>
          <p:nvPr/>
        </p:nvSpPr>
        <p:spPr>
          <a:xfrm>
            <a:off x="4572000" y="3017520"/>
            <a:ext cx="310896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3213A"/>
                </a:solidFill>
                <a:latin typeface="Calibri" pitchFamily="34" charset="0"/>
                <a:ea typeface="Calibri" pitchFamily="34" charset="-122"/>
                <a:cs typeface="Calibri" pitchFamily="34" charset="-120"/>
              </a:rPr>
              <a:t>Listrik, air bersih, dan TIK lewat DAK Fisik</a:t>
            </a:r>
            <a:endParaRPr lang="en-US" sz="1500" dirty="0"/>
          </a:p>
          <a:p>
            <a:pPr marL="342900" indent="-342900">
              <a:spcAft>
                <a:spcPts val="600"/>
              </a:spcAft>
              <a:buSzPct val="100000"/>
              <a:buChar char="•"/>
            </a:pPr>
            <a:r>
              <a:rPr lang="en-US" sz="1500" dirty="0">
                <a:solidFill>
                  <a:srgbClr val="13213A"/>
                </a:solidFill>
                <a:latin typeface="Calibri" pitchFamily="34" charset="0"/>
                <a:ea typeface="Calibri" pitchFamily="34" charset="-122"/>
                <a:cs typeface="Calibri" pitchFamily="34" charset="-120"/>
              </a:rPr>
              <a:t>Kelompok terbesar, dampak agregat terbesar</a:t>
            </a:r>
            <a:endParaRPr lang="en-US" sz="1500" dirty="0"/>
          </a:p>
        </p:txBody>
      </p:sp>
      <p:sp>
        <p:nvSpPr>
          <p:cNvPr id="17" name="Text 14"/>
          <p:cNvSpPr txBox="1"/>
          <p:nvPr/>
        </p:nvSpPr>
        <p:spPr>
          <a:xfrm>
            <a:off x="4572000" y="4754880"/>
            <a:ext cx="3108960" cy="457200"/>
          </a:xfrm>
          <a:prstGeom prst="rect">
            <a:avLst/>
          </a:prstGeom>
          <a:noFill/>
          <a:ln/>
        </p:spPr>
        <p:txBody>
          <a:bodyPr wrap="square" lIns="0" tIns="0" rIns="0" bIns="0" rtlCol="0" anchor="t"/>
          <a:lstStyle/>
          <a:p>
            <a:pPr indent="0" marL="0">
              <a:buNone/>
            </a:pPr>
            <a:r>
              <a:rPr lang="en-US" sz="1200" dirty="0">
                <a:solidFill>
                  <a:srgbClr val="5F6673"/>
                </a:solidFill>
                <a:latin typeface="Calibri" pitchFamily="34" charset="0"/>
                <a:ea typeface="Calibri" pitchFamily="34" charset="-122"/>
                <a:cs typeface="Calibri" pitchFamily="34" charset="-120"/>
              </a:rPr>
              <a:t>Potensi paket terpadu (infrastruktur saja +6,00)</a:t>
            </a:r>
            <a:endParaRPr lang="en-US" sz="1200" dirty="0"/>
          </a:p>
        </p:txBody>
      </p:sp>
      <p:sp>
        <p:nvSpPr>
          <p:cNvPr id="18" name="Text 15"/>
          <p:cNvSpPr txBox="1"/>
          <p:nvPr/>
        </p:nvSpPr>
        <p:spPr>
          <a:xfrm>
            <a:off x="4572000" y="5257800"/>
            <a:ext cx="3108960" cy="777240"/>
          </a:xfrm>
          <a:prstGeom prst="rect">
            <a:avLst/>
          </a:prstGeom>
          <a:noFill/>
          <a:ln/>
        </p:spPr>
        <p:txBody>
          <a:bodyPr wrap="square" lIns="0" tIns="0" rIns="0" bIns="0" rtlCol="0" anchor="ctr"/>
          <a:lstStyle/>
          <a:p>
            <a:pPr indent="0" marL="0">
              <a:buNone/>
            </a:pPr>
            <a:r>
              <a:rPr lang="en-US" sz="4400" b="1" dirty="0">
                <a:solidFill>
                  <a:srgbClr val="A9451F"/>
                </a:solidFill>
                <a:latin typeface="Cambria" pitchFamily="34" charset="0"/>
                <a:ea typeface="Cambria" pitchFamily="34" charset="-122"/>
                <a:cs typeface="Cambria" pitchFamily="34" charset="-120"/>
              </a:rPr>
              <a:t>+7,61</a:t>
            </a:r>
            <a:endParaRPr lang="en-US" sz="4400" dirty="0"/>
          </a:p>
        </p:txBody>
      </p:sp>
      <p:sp>
        <p:nvSpPr>
          <p:cNvPr id="19" name="Kartu"/>
          <p:cNvSpPr/>
          <p:nvPr/>
        </p:nvSpPr>
        <p:spPr>
          <a:xfrm>
            <a:off x="8046720" y="1783080"/>
            <a:ext cx="3593592" cy="4434840"/>
          </a:xfrm>
          <a:prstGeom prst="roundRect">
            <a:avLst>
              <a:gd name="adj" fmla="val 3053"/>
            </a:avLst>
          </a:prstGeom>
          <a:solidFill>
            <a:srgbClr val="FFFFFF"/>
          </a:solidFill>
          <a:ln w="9525">
            <a:solidFill>
              <a:srgbClr val="DDE2EA"/>
            </a:solidFill>
            <a:prstDash val="solid"/>
          </a:ln>
          <a:effectLst>
            <a:outerShdw sx="100000" sy="100000" kx="0" ky="0" algn="bl" rotWithShape="0" blurRad="101600" dist="25400" dir="5400000">
              <a:srgbClr val="000000">
                <a:alpha val="8000"/>
              </a:srgbClr>
            </a:outerShdw>
          </a:effectLst>
        </p:spPr>
      </p:sp>
      <p:sp>
        <p:nvSpPr>
          <p:cNvPr id="20" name="Penanda"/>
          <p:cNvSpPr/>
          <p:nvPr/>
        </p:nvSpPr>
        <p:spPr>
          <a:xfrm>
            <a:off x="8321040" y="2011680"/>
            <a:ext cx="365760" cy="365760"/>
          </a:xfrm>
          <a:prstGeom prst="ellipse">
            <a:avLst/>
          </a:prstGeom>
          <a:solidFill>
            <a:srgbClr val="1F6FB2"/>
          </a:solidFill>
          <a:ln w="12700">
            <a:solidFill>
              <a:srgbClr val="1F6FB2"/>
            </a:solidFill>
            <a:prstDash val="solid"/>
          </a:ln>
        </p:spPr>
      </p:sp>
      <p:sp>
        <p:nvSpPr>
          <p:cNvPr id="21" name="Text 18"/>
          <p:cNvSpPr txBox="1"/>
          <p:nvPr/>
        </p:nvSpPr>
        <p:spPr>
          <a:xfrm>
            <a:off x="8823960" y="2011680"/>
            <a:ext cx="2651760" cy="365760"/>
          </a:xfrm>
          <a:prstGeom prst="rect">
            <a:avLst/>
          </a:prstGeom>
          <a:noFill/>
          <a:ln/>
        </p:spPr>
        <p:txBody>
          <a:bodyPr wrap="square" lIns="0" tIns="0" rIns="0" bIns="0" rtlCol="0" anchor="ctr"/>
          <a:lstStyle/>
          <a:p>
            <a:pPr indent="0" marL="0">
              <a:buNone/>
            </a:pPr>
            <a:r>
              <a:rPr lang="en-US" sz="2200" b="1" dirty="0">
                <a:solidFill>
                  <a:srgbClr val="13213A"/>
                </a:solidFill>
                <a:latin typeface="Cambria" pitchFamily="34" charset="0"/>
                <a:ea typeface="Cambria" pitchFamily="34" charset="-122"/>
                <a:cs typeface="Cambria" pitchFamily="34" charset="-120"/>
              </a:rPr>
              <a:t>Benchmark Maju</a:t>
            </a:r>
            <a:endParaRPr lang="en-US" sz="2200" dirty="0"/>
          </a:p>
        </p:txBody>
      </p:sp>
      <p:sp>
        <p:nvSpPr>
          <p:cNvPr id="22" name="Text 19"/>
          <p:cNvSpPr txBox="1"/>
          <p:nvPr/>
        </p:nvSpPr>
        <p:spPr>
          <a:xfrm>
            <a:off x="8321040" y="2560320"/>
            <a:ext cx="3108960" cy="320040"/>
          </a:xfrm>
          <a:prstGeom prst="rect">
            <a:avLst/>
          </a:prstGeom>
          <a:noFill/>
          <a:ln/>
        </p:spPr>
        <p:txBody>
          <a:bodyPr wrap="square" lIns="0" tIns="0" rIns="0" bIns="0" rtlCol="0" anchor="ctr"/>
          <a:lstStyle/>
          <a:p>
            <a:pPr indent="0" marL="0">
              <a:buNone/>
            </a:pPr>
            <a:r>
              <a:rPr lang="en-US" sz="1300" dirty="0">
                <a:solidFill>
                  <a:srgbClr val="5F6673"/>
                </a:solidFill>
                <a:latin typeface="Calibri" pitchFamily="34" charset="0"/>
                <a:ea typeface="Calibri" pitchFamily="34" charset="-122"/>
                <a:cs typeface="Calibri" pitchFamily="34" charset="-120"/>
              </a:rPr>
              <a:t>988 unit · rerata 63,57</a:t>
            </a:r>
            <a:endParaRPr lang="en-US" sz="1300" dirty="0"/>
          </a:p>
        </p:txBody>
      </p:sp>
      <p:sp>
        <p:nvSpPr>
          <p:cNvPr id="23" name="Text 20"/>
          <p:cNvSpPr txBox="1"/>
          <p:nvPr/>
        </p:nvSpPr>
        <p:spPr>
          <a:xfrm>
            <a:off x="8321040" y="3017520"/>
            <a:ext cx="310896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3213A"/>
                </a:solidFill>
                <a:latin typeface="Calibri" pitchFamily="34" charset="0"/>
                <a:ea typeface="Calibri" pitchFamily="34" charset="-122"/>
                <a:cs typeface="Calibri" pitchFamily="34" charset="-120"/>
              </a:rPr>
              <a:t>Pemerataan guru (+1,55)</a:t>
            </a:r>
            <a:endParaRPr lang="en-US" sz="1500" dirty="0"/>
          </a:p>
          <a:p>
            <a:pPr marL="342900" indent="-342900">
              <a:spcAft>
                <a:spcPts val="600"/>
              </a:spcAft>
              <a:buSzPct val="100000"/>
              <a:buChar char="•"/>
            </a:pPr>
            <a:r>
              <a:rPr lang="en-US" sz="1500" dirty="0">
                <a:solidFill>
                  <a:srgbClr val="13213A"/>
                </a:solidFill>
                <a:latin typeface="Calibri" pitchFamily="34" charset="0"/>
                <a:ea typeface="Calibri" pitchFamily="34" charset="-122"/>
                <a:cs typeface="Calibri" pitchFamily="34" charset="-120"/>
              </a:rPr>
              <a:t>Kurangi kelas padat (+0,93)</a:t>
            </a:r>
            <a:endParaRPr lang="en-US" sz="1500" dirty="0"/>
          </a:p>
          <a:p>
            <a:pPr marL="342900" indent="-342900">
              <a:spcAft>
                <a:spcPts val="600"/>
              </a:spcAft>
              <a:buSzPct val="100000"/>
              <a:buChar char="•"/>
            </a:pPr>
            <a:r>
              <a:rPr lang="en-US" sz="1500" dirty="0">
                <a:solidFill>
                  <a:srgbClr val="13213A"/>
                </a:solidFill>
                <a:latin typeface="Calibri" pitchFamily="34" charset="0"/>
                <a:ea typeface="Calibri" pitchFamily="34" charset="-122"/>
                <a:cs typeface="Calibri" pitchFamily="34" charset="-120"/>
              </a:rPr>
              <a:t>Cegah putus sekolah</a:t>
            </a:r>
            <a:endParaRPr lang="en-US" sz="1500" dirty="0"/>
          </a:p>
        </p:txBody>
      </p:sp>
      <p:sp>
        <p:nvSpPr>
          <p:cNvPr id="24" name="Text 21"/>
          <p:cNvSpPr txBox="1"/>
          <p:nvPr/>
        </p:nvSpPr>
        <p:spPr>
          <a:xfrm>
            <a:off x="8321040" y="4754880"/>
            <a:ext cx="3108960" cy="457200"/>
          </a:xfrm>
          <a:prstGeom prst="rect">
            <a:avLst/>
          </a:prstGeom>
          <a:noFill/>
          <a:ln/>
        </p:spPr>
        <p:txBody>
          <a:bodyPr wrap="square" lIns="0" tIns="0" rIns="0" bIns="0" rtlCol="0" anchor="t"/>
          <a:lstStyle/>
          <a:p>
            <a:pPr indent="0" marL="0">
              <a:buNone/>
            </a:pPr>
            <a:r>
              <a:rPr lang="en-US" sz="1200" dirty="0">
                <a:solidFill>
                  <a:srgbClr val="5F6673"/>
                </a:solidFill>
                <a:latin typeface="Calibri" pitchFamily="34" charset="0"/>
                <a:ea typeface="Calibri" pitchFamily="34" charset="-122"/>
                <a:cs typeface="Calibri" pitchFamily="34" charset="-120"/>
              </a:rPr>
              <a:t>Potensi paket terpadu</a:t>
            </a:r>
            <a:endParaRPr lang="en-US" sz="1200" dirty="0"/>
          </a:p>
        </p:txBody>
      </p:sp>
      <p:sp>
        <p:nvSpPr>
          <p:cNvPr id="25" name="Text 22"/>
          <p:cNvSpPr txBox="1"/>
          <p:nvPr/>
        </p:nvSpPr>
        <p:spPr>
          <a:xfrm>
            <a:off x="8321040" y="5257800"/>
            <a:ext cx="3108960" cy="777240"/>
          </a:xfrm>
          <a:prstGeom prst="rect">
            <a:avLst/>
          </a:prstGeom>
          <a:noFill/>
          <a:ln/>
        </p:spPr>
        <p:txBody>
          <a:bodyPr wrap="square" lIns="0" tIns="0" rIns="0" bIns="0" rtlCol="0" anchor="ctr"/>
          <a:lstStyle/>
          <a:p>
            <a:pPr indent="0" marL="0">
              <a:buNone/>
            </a:pPr>
            <a:r>
              <a:rPr lang="en-US" sz="4400" b="1" dirty="0">
                <a:solidFill>
                  <a:srgbClr val="A9451F"/>
                </a:solidFill>
                <a:latin typeface="Cambria" pitchFamily="34" charset="0"/>
                <a:ea typeface="Cambria" pitchFamily="34" charset="-122"/>
                <a:cs typeface="Cambria" pitchFamily="34" charset="-120"/>
              </a:rPr>
              <a:t>+6,09</a:t>
            </a:r>
            <a:endParaRPr lang="en-US" sz="4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Eyebrow"/>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200" kern="0" dirty="0">
                <a:solidFill>
                  <a:srgbClr val="A9451F"/>
                </a:solidFill>
                <a:latin typeface="Calibri" pitchFamily="34" charset="0"/>
                <a:ea typeface="Calibri" pitchFamily="34" charset="-122"/>
                <a:cs typeface="Calibri" pitchFamily="34" charset="-120"/>
              </a:rPr>
              <a:t>PRODUK</a:t>
            </a:r>
            <a:endParaRPr lang="en-US" sz="1300" dirty="0"/>
          </a:p>
        </p:txBody>
      </p:sp>
      <p:sp>
        <p:nvSpPr>
          <p:cNvPr id="4" name="Judul"/>
          <p:cNvSpPr txBox="1"/>
          <p:nvPr/>
        </p:nvSpPr>
        <p:spPr>
          <a:xfrm>
            <a:off x="548640" y="713232"/>
            <a:ext cx="11064240" cy="868680"/>
          </a:xfrm>
          <a:prstGeom prst="rect">
            <a:avLst/>
          </a:prstGeom>
          <a:noFill/>
          <a:ln/>
        </p:spPr>
        <p:txBody>
          <a:bodyPr wrap="square" lIns="0" tIns="0" rIns="0" bIns="0" rtlCol="0" anchor="t"/>
          <a:lstStyle/>
          <a:p>
            <a:pPr indent="0" marL="0">
              <a:buNone/>
            </a:pPr>
            <a:r>
              <a:rPr lang="en-US" sz="3400" b="1" dirty="0">
                <a:solidFill>
                  <a:srgbClr val="13213A"/>
                </a:solidFill>
                <a:latin typeface="Cambria" pitchFamily="34" charset="0"/>
                <a:ea typeface="Cambria" pitchFamily="34" charset="-122"/>
                <a:cs typeface="Cambria" pitchFamily="34" charset="-120"/>
              </a:rPr>
              <a:t>NUSA-MIPA: dari temuan ke keputusan</a:t>
            </a:r>
            <a:endParaRPr lang="en-US" sz="3400" dirty="0"/>
          </a:p>
        </p:txBody>
      </p:sp>
      <p:sp>
        <p:nvSpPr>
          <p:cNvPr id="5" name="Penanda"/>
          <p:cNvSpPr/>
          <p:nvPr/>
        </p:nvSpPr>
        <p:spPr>
          <a:xfrm>
            <a:off x="548640" y="1874520"/>
            <a:ext cx="548640" cy="548640"/>
          </a:xfrm>
          <a:prstGeom prst="ellipse">
            <a:avLst/>
          </a:prstGeom>
          <a:solidFill>
            <a:srgbClr val="1F6FB2"/>
          </a:solidFill>
          <a:ln w="12700">
            <a:solidFill>
              <a:srgbClr val="1F6FB2"/>
            </a:solidFill>
            <a:prstDash val="solid"/>
          </a:ln>
        </p:spPr>
      </p:sp>
      <p:sp>
        <p:nvSpPr>
          <p:cNvPr id="6" name="Text 3"/>
          <p:cNvSpPr txBox="1"/>
          <p:nvPr/>
        </p:nvSpPr>
        <p:spPr>
          <a:xfrm>
            <a:off x="548640" y="18745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1325880" y="1783080"/>
            <a:ext cx="4846320" cy="411480"/>
          </a:xfrm>
          <a:prstGeom prst="rect">
            <a:avLst/>
          </a:prstGeom>
          <a:noFill/>
          <a:ln/>
        </p:spPr>
        <p:txBody>
          <a:bodyPr wrap="square" lIns="0" tIns="0" rIns="0" bIns="0" rtlCol="0" anchor="ctr"/>
          <a:lstStyle/>
          <a:p>
            <a:pPr indent="0" marL="0">
              <a:buNone/>
            </a:pPr>
            <a:r>
              <a:rPr lang="en-US" sz="1900" b="1" dirty="0">
                <a:solidFill>
                  <a:srgbClr val="13213A"/>
                </a:solidFill>
                <a:latin typeface="Cambria" pitchFamily="34" charset="0"/>
                <a:ea typeface="Cambria" pitchFamily="34" charset="-122"/>
                <a:cs typeface="Cambria" pitchFamily="34" charset="-120"/>
              </a:rPr>
              <a:t>Peta Geospasial Nasional</a:t>
            </a:r>
            <a:endParaRPr lang="en-US" sz="1900" dirty="0"/>
          </a:p>
        </p:txBody>
      </p:sp>
      <p:sp>
        <p:nvSpPr>
          <p:cNvPr id="8" name="Text 5"/>
          <p:cNvSpPr txBox="1"/>
          <p:nvPr/>
        </p:nvSpPr>
        <p:spPr>
          <a:xfrm>
            <a:off x="1325880" y="2167128"/>
            <a:ext cx="4846320" cy="365760"/>
          </a:xfrm>
          <a:prstGeom prst="rect">
            <a:avLst/>
          </a:prstGeom>
          <a:noFill/>
          <a:ln/>
        </p:spPr>
        <p:txBody>
          <a:bodyPr wrap="square" lIns="0" tIns="0" rIns="0" bIns="0" rtlCol="0" anchor="ctr"/>
          <a:lstStyle/>
          <a:p>
            <a:pPr indent="0" marL="0">
              <a:buNone/>
            </a:pPr>
            <a:r>
              <a:rPr lang="en-US" sz="1400" dirty="0">
                <a:solidFill>
                  <a:srgbClr val="5F6673"/>
                </a:solidFill>
                <a:latin typeface="Calibri" pitchFamily="34" charset="0"/>
                <a:ea typeface="Calibri" pitchFamily="34" charset="-122"/>
                <a:cs typeface="Calibri" pitchFamily="34" charset="-120"/>
              </a:rPr>
              <a:t>Sebaran klaster dan Moran’s I per jenjang</a:t>
            </a:r>
            <a:endParaRPr lang="en-US" sz="1400" dirty="0"/>
          </a:p>
        </p:txBody>
      </p:sp>
      <p:sp>
        <p:nvSpPr>
          <p:cNvPr id="9" name="Penanda"/>
          <p:cNvSpPr/>
          <p:nvPr/>
        </p:nvSpPr>
        <p:spPr>
          <a:xfrm>
            <a:off x="548640" y="2770632"/>
            <a:ext cx="548640" cy="548640"/>
          </a:xfrm>
          <a:prstGeom prst="ellipse">
            <a:avLst/>
          </a:prstGeom>
          <a:solidFill>
            <a:srgbClr val="1F6FB2"/>
          </a:solidFill>
          <a:ln w="12700">
            <a:solidFill>
              <a:srgbClr val="1F6FB2"/>
            </a:solidFill>
            <a:prstDash val="solid"/>
          </a:ln>
        </p:spPr>
      </p:sp>
      <p:sp>
        <p:nvSpPr>
          <p:cNvPr id="10" name="Text 7"/>
          <p:cNvSpPr txBox="1"/>
          <p:nvPr/>
        </p:nvSpPr>
        <p:spPr>
          <a:xfrm>
            <a:off x="548640" y="277063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1325880" y="2679192"/>
            <a:ext cx="4846320" cy="411480"/>
          </a:xfrm>
          <a:prstGeom prst="rect">
            <a:avLst/>
          </a:prstGeom>
          <a:noFill/>
          <a:ln/>
        </p:spPr>
        <p:txBody>
          <a:bodyPr wrap="square" lIns="0" tIns="0" rIns="0" bIns="0" rtlCol="0" anchor="ctr"/>
          <a:lstStyle/>
          <a:p>
            <a:pPr indent="0" marL="0">
              <a:buNone/>
            </a:pPr>
            <a:r>
              <a:rPr lang="en-US" sz="1900" b="1" dirty="0">
                <a:solidFill>
                  <a:srgbClr val="13213A"/>
                </a:solidFill>
                <a:latin typeface="Cambria" pitchFamily="34" charset="0"/>
                <a:ea typeface="Cambria" pitchFamily="34" charset="-122"/>
                <a:cs typeface="Cambria" pitchFamily="34" charset="-120"/>
              </a:rPr>
              <a:t>Laboratorium Ekonometrika Spasial</a:t>
            </a:r>
            <a:endParaRPr lang="en-US" sz="1900" dirty="0"/>
          </a:p>
        </p:txBody>
      </p:sp>
      <p:sp>
        <p:nvSpPr>
          <p:cNvPr id="12" name="Text 9"/>
          <p:cNvSpPr txBox="1"/>
          <p:nvPr/>
        </p:nvSpPr>
        <p:spPr>
          <a:xfrm>
            <a:off x="1325880" y="3063240"/>
            <a:ext cx="4846320" cy="365760"/>
          </a:xfrm>
          <a:prstGeom prst="rect">
            <a:avLst/>
          </a:prstGeom>
          <a:noFill/>
          <a:ln/>
        </p:spPr>
        <p:txBody>
          <a:bodyPr wrap="square" lIns="0" tIns="0" rIns="0" bIns="0" rtlCol="0" anchor="ctr"/>
          <a:lstStyle/>
          <a:p>
            <a:pPr indent="0" marL="0">
              <a:buNone/>
            </a:pPr>
            <a:r>
              <a:rPr lang="en-US" sz="1400" dirty="0">
                <a:solidFill>
                  <a:srgbClr val="5F6673"/>
                </a:solidFill>
                <a:latin typeface="Calibri" pitchFamily="34" charset="0"/>
                <a:ea typeface="Calibri" pitchFamily="34" charset="-122"/>
                <a:cs typeface="Calibri" pitchFamily="34" charset="-120"/>
              </a:rPr>
              <a:t>Peta koefisien lokal dan bandwidth MGWR</a:t>
            </a:r>
            <a:endParaRPr lang="en-US" sz="1400" dirty="0"/>
          </a:p>
        </p:txBody>
      </p:sp>
      <p:sp>
        <p:nvSpPr>
          <p:cNvPr id="13" name="Penanda"/>
          <p:cNvSpPr/>
          <p:nvPr/>
        </p:nvSpPr>
        <p:spPr>
          <a:xfrm>
            <a:off x="548640" y="3666744"/>
            <a:ext cx="548640" cy="548640"/>
          </a:xfrm>
          <a:prstGeom prst="ellipse">
            <a:avLst/>
          </a:prstGeom>
          <a:solidFill>
            <a:srgbClr val="1F6FB2"/>
          </a:solidFill>
          <a:ln w="12700">
            <a:solidFill>
              <a:srgbClr val="1F6FB2"/>
            </a:solidFill>
            <a:prstDash val="solid"/>
          </a:ln>
        </p:spPr>
      </p:sp>
      <p:sp>
        <p:nvSpPr>
          <p:cNvPr id="14" name="Text 11"/>
          <p:cNvSpPr txBox="1"/>
          <p:nvPr/>
        </p:nvSpPr>
        <p:spPr>
          <a:xfrm>
            <a:off x="548640" y="366674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2"/>
          <p:cNvSpPr txBox="1"/>
          <p:nvPr/>
        </p:nvSpPr>
        <p:spPr>
          <a:xfrm>
            <a:off x="1325880" y="3575304"/>
            <a:ext cx="4846320" cy="411480"/>
          </a:xfrm>
          <a:prstGeom prst="rect">
            <a:avLst/>
          </a:prstGeom>
          <a:noFill/>
          <a:ln/>
        </p:spPr>
        <p:txBody>
          <a:bodyPr wrap="square" lIns="0" tIns="0" rIns="0" bIns="0" rtlCol="0" anchor="ctr"/>
          <a:lstStyle/>
          <a:p>
            <a:pPr indent="0" marL="0">
              <a:buNone/>
            </a:pPr>
            <a:r>
              <a:rPr lang="en-US" sz="1900" b="1" dirty="0">
                <a:solidFill>
                  <a:srgbClr val="13213A"/>
                </a:solidFill>
                <a:latin typeface="Cambria" pitchFamily="34" charset="0"/>
                <a:ea typeface="Cambria" pitchFamily="34" charset="-122"/>
                <a:cs typeface="Cambria" pitchFamily="34" charset="-120"/>
              </a:rPr>
              <a:t>Diagnostik Daerah 360°</a:t>
            </a:r>
            <a:endParaRPr lang="en-US" sz="1900" dirty="0"/>
          </a:p>
        </p:txBody>
      </p:sp>
      <p:sp>
        <p:nvSpPr>
          <p:cNvPr id="16" name="Text 13"/>
          <p:cNvSpPr txBox="1"/>
          <p:nvPr/>
        </p:nvSpPr>
        <p:spPr>
          <a:xfrm>
            <a:off x="1325880" y="3959352"/>
            <a:ext cx="4846320" cy="365760"/>
          </a:xfrm>
          <a:prstGeom prst="rect">
            <a:avLst/>
          </a:prstGeom>
          <a:noFill/>
          <a:ln/>
        </p:spPr>
        <p:txBody>
          <a:bodyPr wrap="square" lIns="0" tIns="0" rIns="0" bIns="0" rtlCol="0" anchor="ctr"/>
          <a:lstStyle/>
          <a:p>
            <a:pPr indent="0" marL="0">
              <a:buNone/>
            </a:pPr>
            <a:r>
              <a:rPr lang="en-US" sz="1400" dirty="0">
                <a:solidFill>
                  <a:srgbClr val="5F6673"/>
                </a:solidFill>
                <a:latin typeface="Calibri" pitchFamily="34" charset="0"/>
                <a:ea typeface="Calibri" pitchFamily="34" charset="-122"/>
                <a:cs typeface="Calibri" pitchFamily="34" charset="-120"/>
              </a:rPr>
              <a:t>Profil radar dan penghambat utama tiap kab/kota</a:t>
            </a:r>
            <a:endParaRPr lang="en-US" sz="1400" dirty="0"/>
          </a:p>
        </p:txBody>
      </p:sp>
      <p:sp>
        <p:nvSpPr>
          <p:cNvPr id="17" name="Penanda"/>
          <p:cNvSpPr/>
          <p:nvPr/>
        </p:nvSpPr>
        <p:spPr>
          <a:xfrm>
            <a:off x="548640" y="4562856"/>
            <a:ext cx="548640" cy="548640"/>
          </a:xfrm>
          <a:prstGeom prst="ellipse">
            <a:avLst/>
          </a:prstGeom>
          <a:solidFill>
            <a:srgbClr val="1F6FB2"/>
          </a:solidFill>
          <a:ln w="12700">
            <a:solidFill>
              <a:srgbClr val="1F6FB2"/>
            </a:solidFill>
            <a:prstDash val="solid"/>
          </a:ln>
        </p:spPr>
      </p:sp>
      <p:sp>
        <p:nvSpPr>
          <p:cNvPr id="18" name="Text 15"/>
          <p:cNvSpPr txBox="1"/>
          <p:nvPr/>
        </p:nvSpPr>
        <p:spPr>
          <a:xfrm>
            <a:off x="548640" y="456285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6"/>
          <p:cNvSpPr txBox="1"/>
          <p:nvPr/>
        </p:nvSpPr>
        <p:spPr>
          <a:xfrm>
            <a:off x="1325880" y="4471416"/>
            <a:ext cx="4846320" cy="411480"/>
          </a:xfrm>
          <a:prstGeom prst="rect">
            <a:avLst/>
          </a:prstGeom>
          <a:noFill/>
          <a:ln/>
        </p:spPr>
        <p:txBody>
          <a:bodyPr wrap="square" lIns="0" tIns="0" rIns="0" bIns="0" rtlCol="0" anchor="ctr"/>
          <a:lstStyle/>
          <a:p>
            <a:pPr indent="0" marL="0">
              <a:buNone/>
            </a:pPr>
            <a:r>
              <a:rPr lang="en-US" sz="1900" b="1" dirty="0">
                <a:solidFill>
                  <a:srgbClr val="13213A"/>
                </a:solidFill>
                <a:latin typeface="Cambria" pitchFamily="34" charset="0"/>
                <a:ea typeface="Cambria" pitchFamily="34" charset="-122"/>
                <a:cs typeface="Cambria" pitchFamily="34" charset="-120"/>
              </a:rPr>
              <a:t>Simulator Kebijakan What-If</a:t>
            </a:r>
            <a:endParaRPr lang="en-US" sz="1900" dirty="0"/>
          </a:p>
        </p:txBody>
      </p:sp>
      <p:sp>
        <p:nvSpPr>
          <p:cNvPr id="20" name="Text 17"/>
          <p:cNvSpPr txBox="1"/>
          <p:nvPr/>
        </p:nvSpPr>
        <p:spPr>
          <a:xfrm>
            <a:off x="1325880" y="4855464"/>
            <a:ext cx="4846320" cy="365760"/>
          </a:xfrm>
          <a:prstGeom prst="rect">
            <a:avLst/>
          </a:prstGeom>
          <a:noFill/>
          <a:ln/>
        </p:spPr>
        <p:txBody>
          <a:bodyPr wrap="square" lIns="0" tIns="0" rIns="0" bIns="0" rtlCol="0" anchor="ctr"/>
          <a:lstStyle/>
          <a:p>
            <a:pPr indent="0" marL="0">
              <a:buNone/>
            </a:pPr>
            <a:r>
              <a:rPr lang="en-US" sz="1400" dirty="0">
                <a:solidFill>
                  <a:srgbClr val="5F6673"/>
                </a:solidFill>
                <a:latin typeface="Calibri" pitchFamily="34" charset="0"/>
                <a:ea typeface="Calibri" pitchFamily="34" charset="-122"/>
                <a:cs typeface="Calibri" pitchFamily="34" charset="-120"/>
              </a:rPr>
              <a:t>Geser tuas kebijakan, lihat perubahan skor</a:t>
            </a:r>
            <a:endParaRPr lang="en-US" sz="1400" dirty="0"/>
          </a:p>
        </p:txBody>
      </p:sp>
      <p:sp>
        <p:nvSpPr>
          <p:cNvPr id="21" name="Penanda"/>
          <p:cNvSpPr/>
          <p:nvPr/>
        </p:nvSpPr>
        <p:spPr>
          <a:xfrm>
            <a:off x="548640" y="5458968"/>
            <a:ext cx="548640" cy="548640"/>
          </a:xfrm>
          <a:prstGeom prst="ellipse">
            <a:avLst/>
          </a:prstGeom>
          <a:solidFill>
            <a:srgbClr val="1F6FB2"/>
          </a:solidFill>
          <a:ln w="12700">
            <a:solidFill>
              <a:srgbClr val="1F6FB2"/>
            </a:solidFill>
            <a:prstDash val="solid"/>
          </a:ln>
        </p:spPr>
      </p:sp>
      <p:sp>
        <p:nvSpPr>
          <p:cNvPr id="22" name="Text 19"/>
          <p:cNvSpPr txBox="1"/>
          <p:nvPr/>
        </p:nvSpPr>
        <p:spPr>
          <a:xfrm>
            <a:off x="548640" y="545896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3" name="Text 20"/>
          <p:cNvSpPr txBox="1"/>
          <p:nvPr/>
        </p:nvSpPr>
        <p:spPr>
          <a:xfrm>
            <a:off x="1325880" y="5367528"/>
            <a:ext cx="4846320" cy="411480"/>
          </a:xfrm>
          <a:prstGeom prst="rect">
            <a:avLst/>
          </a:prstGeom>
          <a:noFill/>
          <a:ln/>
        </p:spPr>
        <p:txBody>
          <a:bodyPr wrap="square" lIns="0" tIns="0" rIns="0" bIns="0" rtlCol="0" anchor="ctr"/>
          <a:lstStyle/>
          <a:p>
            <a:pPr indent="0" marL="0">
              <a:buNone/>
            </a:pPr>
            <a:r>
              <a:rPr lang="en-US" sz="1900" b="1" dirty="0">
                <a:solidFill>
                  <a:srgbClr val="13213A"/>
                </a:solidFill>
                <a:latin typeface="Cambria" pitchFamily="34" charset="0"/>
                <a:ea typeface="Cambria" pitchFamily="34" charset="-122"/>
                <a:cs typeface="Cambria" pitchFamily="34" charset="-120"/>
              </a:rPr>
              <a:t>Matriks Rencana Aksi</a:t>
            </a:r>
            <a:endParaRPr lang="en-US" sz="1900" dirty="0"/>
          </a:p>
        </p:txBody>
      </p:sp>
      <p:sp>
        <p:nvSpPr>
          <p:cNvPr id="24" name="Text 21"/>
          <p:cNvSpPr txBox="1"/>
          <p:nvPr/>
        </p:nvSpPr>
        <p:spPr>
          <a:xfrm>
            <a:off x="1325880" y="5751576"/>
            <a:ext cx="4846320" cy="365760"/>
          </a:xfrm>
          <a:prstGeom prst="rect">
            <a:avLst/>
          </a:prstGeom>
          <a:noFill/>
          <a:ln/>
        </p:spPr>
        <p:txBody>
          <a:bodyPr wrap="square" lIns="0" tIns="0" rIns="0" bIns="0" rtlCol="0" anchor="ctr"/>
          <a:lstStyle/>
          <a:p>
            <a:pPr indent="0" marL="0">
              <a:buNone/>
            </a:pPr>
            <a:r>
              <a:rPr lang="en-US" sz="1400" dirty="0">
                <a:solidFill>
                  <a:srgbClr val="5F6673"/>
                </a:solidFill>
                <a:latin typeface="Calibri" pitchFamily="34" charset="0"/>
                <a:ea typeface="Calibri" pitchFamily="34" charset="-122"/>
                <a:cs typeface="Calibri" pitchFamily="34" charset="-120"/>
              </a:rPr>
              <a:t>Rekomendasi 2.056 unit, siap ekspor</a:t>
            </a:r>
            <a:endParaRPr lang="en-US" sz="1400" dirty="0"/>
          </a:p>
        </p:txBody>
      </p:sp>
      <p:sp>
        <p:nvSpPr>
          <p:cNvPr id="25" name="SLOT SCREENSHOT WEB"/>
          <p:cNvSpPr/>
          <p:nvPr/>
        </p:nvSpPr>
        <p:spPr>
          <a:xfrm>
            <a:off x="6492240" y="1783080"/>
            <a:ext cx="5148072" cy="3017520"/>
          </a:xfrm>
          <a:prstGeom prst="roundRect">
            <a:avLst>
              <a:gd name="adj" fmla="val 3636"/>
            </a:avLst>
          </a:prstGeom>
          <a:solidFill>
            <a:srgbClr val="EEF1F6"/>
          </a:solidFill>
          <a:ln w="19050">
            <a:solidFill>
              <a:srgbClr val="9AA6B8"/>
            </a:solidFill>
            <a:prstDash val="dash"/>
          </a:ln>
        </p:spPr>
      </p:sp>
      <p:sp>
        <p:nvSpPr>
          <p:cNvPr id="26" name="Text 23"/>
          <p:cNvSpPr txBox="1"/>
          <p:nvPr/>
        </p:nvSpPr>
        <p:spPr>
          <a:xfrm>
            <a:off x="6492240" y="1783080"/>
            <a:ext cx="5148072" cy="3017520"/>
          </a:xfrm>
          <a:prstGeom prst="rect">
            <a:avLst/>
          </a:prstGeom>
          <a:noFill/>
          <a:ln/>
        </p:spPr>
        <p:txBody>
          <a:bodyPr wrap="square" lIns="1905" tIns="1905" rIns="1905" bIns="1905" rtlCol="0" anchor="ctr"/>
          <a:lstStyle/>
          <a:p>
            <a:pPr algn="ctr" indent="0" marL="0">
              <a:buNone/>
            </a:pPr>
            <a:r>
              <a:rPr lang="en-US" sz="1200" b="1" dirty="0">
                <a:solidFill>
                  <a:srgbClr val="6B7787"/>
                </a:solidFill>
                <a:latin typeface="Calibri" pitchFamily="34" charset="0"/>
                <a:ea typeface="Calibri" pitchFamily="34" charset="-122"/>
                <a:cs typeface="Calibri" pitchFamily="34" charset="-120"/>
              </a:rPr>
              <a:t>SLOT GAMBAR</a:t>
            </a:r>
            <a:endParaRPr lang="en-US" sz="1200" dirty="0"/>
          </a:p>
          <a:p>
            <a:pPr algn="ctr" indent="0" marL="0">
              <a:buNone/>
            </a:pPr>
            <a:r>
              <a:rPr lang="en-US" sz="1300" dirty="0">
                <a:solidFill>
                  <a:srgbClr val="6B7787"/>
                </a:solidFill>
                <a:latin typeface="Calibri" pitchFamily="34" charset="0"/>
                <a:ea typeface="Calibri" pitchFamily="34" charset="-122"/>
                <a:cs typeface="Calibri" pitchFamily="34" charset="-120"/>
              </a:rPr>
              <a:t>Screenshot web nusa-mipa.vercel.app</a:t>
            </a:r>
            <a:endParaRPr lang="en-US" sz="1200" dirty="0"/>
          </a:p>
        </p:txBody>
      </p:sp>
      <p:sp>
        <p:nvSpPr>
          <p:cNvPr id="27" name="Tautan"/>
          <p:cNvSpPr/>
          <p:nvPr/>
        </p:nvSpPr>
        <p:spPr>
          <a:xfrm>
            <a:off x="6492240" y="4983480"/>
            <a:ext cx="5148072" cy="1234440"/>
          </a:xfrm>
          <a:prstGeom prst="roundRect">
            <a:avLst>
              <a:gd name="adj" fmla="val 8889"/>
            </a:avLst>
          </a:prstGeom>
          <a:solidFill>
            <a:srgbClr val="13213A"/>
          </a:solidFill>
          <a:ln w="12700">
            <a:solidFill>
              <a:srgbClr val="13213A"/>
            </a:solidFill>
            <a:prstDash val="solid"/>
          </a:ln>
        </p:spPr>
      </p:sp>
      <p:sp>
        <p:nvSpPr>
          <p:cNvPr id="28" name="Text 25"/>
          <p:cNvSpPr txBox="1"/>
          <p:nvPr/>
        </p:nvSpPr>
        <p:spPr>
          <a:xfrm>
            <a:off x="6766560" y="4983480"/>
            <a:ext cx="4663440" cy="1234440"/>
          </a:xfrm>
          <a:prstGeom prst="rect">
            <a:avLst/>
          </a:prstGeom>
          <a:noFill/>
          <a:ln/>
        </p:spPr>
        <p:txBody>
          <a:bodyPr wrap="square" lIns="0" tIns="0" rIns="0" bIns="0" rtlCol="0" anchor="ctr"/>
          <a:lstStyle/>
          <a:p>
            <a:pPr indent="0" marL="0">
              <a:buNone/>
            </a:pPr>
            <a:r>
              <a:rPr lang="en-US" sz="1100" b="1" spc="200" kern="0" dirty="0">
                <a:solidFill>
                  <a:srgbClr val="E3A83A"/>
                </a:solidFill>
                <a:latin typeface="Calibri" pitchFamily="34" charset="0"/>
                <a:ea typeface="Calibri" pitchFamily="34" charset="-122"/>
                <a:cs typeface="Calibri" pitchFamily="34" charset="-120"/>
              </a:rPr>
              <a:t>COBA LANGSUNG</a:t>
            </a:r>
            <a:endParaRPr lang="en-US" sz="1100" dirty="0"/>
          </a:p>
          <a:p>
            <a:pPr indent="0" marL="0">
              <a:buNone/>
            </a:pPr>
            <a:r>
              <a:rPr lang="en-US" sz="2600" b="1" dirty="0">
                <a:solidFill>
                  <a:srgbClr val="F6F4EF"/>
                </a:solidFill>
                <a:latin typeface="Cambria" pitchFamily="34" charset="0"/>
                <a:ea typeface="Cambria" pitchFamily="34" charset="-122"/>
                <a:cs typeface="Cambria" pitchFamily="34" charset="-120"/>
              </a:rPr>
              <a:t>nusa-mipa.vercel.app</a:t>
            </a:r>
            <a:endParaRPr lang="en-US" sz="1100" dirty="0"/>
          </a:p>
          <a:p>
            <a:pPr indent="0" marL="0">
              <a:buNone/>
            </a:pPr>
            <a:r>
              <a:rPr lang="en-US" sz="1200" dirty="0">
                <a:solidFill>
                  <a:srgbClr val="B9C3D3"/>
                </a:solidFill>
                <a:latin typeface="Calibri" pitchFamily="34" charset="0"/>
                <a:ea typeface="Calibri" pitchFamily="34" charset="-122"/>
                <a:cs typeface="Calibri" pitchFamily="34" charset="-120"/>
              </a:rPr>
              <a:t>Kode: github.com/MuhammadHabibna/dimasti2026</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Eyebrow"/>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200" kern="0" dirty="0">
                <a:solidFill>
                  <a:srgbClr val="E3A83A"/>
                </a:solidFill>
                <a:latin typeface="Calibri" pitchFamily="34" charset="0"/>
                <a:ea typeface="Calibri" pitchFamily="34" charset="-122"/>
                <a:cs typeface="Calibri" pitchFamily="34" charset="-120"/>
              </a:rPr>
              <a:t>KESIMPULAN</a:t>
            </a:r>
            <a:endParaRPr lang="en-US" sz="1300" dirty="0"/>
          </a:p>
        </p:txBody>
      </p:sp>
      <p:sp>
        <p:nvSpPr>
          <p:cNvPr id="4" name="Judul"/>
          <p:cNvSpPr txBox="1"/>
          <p:nvPr/>
        </p:nvSpPr>
        <p:spPr>
          <a:xfrm>
            <a:off x="548640" y="713232"/>
            <a:ext cx="11064240" cy="868680"/>
          </a:xfrm>
          <a:prstGeom prst="rect">
            <a:avLst/>
          </a:prstGeom>
          <a:noFill/>
          <a:ln/>
        </p:spPr>
        <p:txBody>
          <a:bodyPr wrap="square" lIns="0" tIns="0" rIns="0" bIns="0" rtlCol="0" anchor="t"/>
          <a:lstStyle/>
          <a:p>
            <a:pPr indent="0" marL="0">
              <a:buNone/>
            </a:pPr>
            <a:r>
              <a:rPr lang="en-US" sz="3400" b="1" dirty="0">
                <a:solidFill>
                  <a:srgbClr val="F6F4EF"/>
                </a:solidFill>
                <a:latin typeface="Cambria" pitchFamily="34" charset="0"/>
                <a:ea typeface="Cambria" pitchFamily="34" charset="-122"/>
                <a:cs typeface="Cambria" pitchFamily="34" charset="-120"/>
              </a:rPr>
              <a:t>Numerasi tidak bisa diperbaiki dengan satu kebijakan untuk semua wilayah</a:t>
            </a:r>
            <a:endParaRPr lang="en-US" sz="3400" dirty="0"/>
          </a:p>
        </p:txBody>
      </p:sp>
      <p:sp>
        <p:nvSpPr>
          <p:cNvPr id="5" name="Penanda"/>
          <p:cNvSpPr/>
          <p:nvPr/>
        </p:nvSpPr>
        <p:spPr>
          <a:xfrm>
            <a:off x="548640" y="2258568"/>
            <a:ext cx="548640" cy="548640"/>
          </a:xfrm>
          <a:prstGeom prst="ellipse">
            <a:avLst/>
          </a:prstGeom>
          <a:solidFill>
            <a:srgbClr val="1F6FB2"/>
          </a:solidFill>
          <a:ln w="12700">
            <a:solidFill>
              <a:srgbClr val="1F6FB2"/>
            </a:solidFill>
            <a:prstDash val="solid"/>
          </a:ln>
        </p:spPr>
      </p:sp>
      <p:sp>
        <p:nvSpPr>
          <p:cNvPr id="6" name="Text 3"/>
          <p:cNvSpPr txBox="1"/>
          <p:nvPr/>
        </p:nvSpPr>
        <p:spPr>
          <a:xfrm>
            <a:off x="1371600" y="2148840"/>
            <a:ext cx="10058400" cy="777240"/>
          </a:xfrm>
          <a:prstGeom prst="rect">
            <a:avLst/>
          </a:prstGeom>
          <a:noFill/>
          <a:ln/>
        </p:spPr>
        <p:txBody>
          <a:bodyPr wrap="square" lIns="0" tIns="0" rIns="0" bIns="0" rtlCol="0" anchor="ctr"/>
          <a:lstStyle/>
          <a:p>
            <a:pPr indent="0" marL="0">
              <a:buNone/>
            </a:pPr>
            <a:r>
              <a:rPr lang="en-US" sz="2200" b="1" dirty="0">
                <a:solidFill>
                  <a:srgbClr val="F6F4EF"/>
                </a:solidFill>
                <a:latin typeface="Calibri" pitchFamily="34" charset="0"/>
                <a:ea typeface="Calibri" pitchFamily="34" charset="-122"/>
                <a:cs typeface="Calibri" pitchFamily="34" charset="-120"/>
              </a:rPr>
              <a:t>Di mana: </a:t>
            </a:r>
            <a:pPr indent="0" marL="0">
              <a:buNone/>
            </a:pPr>
            <a:r>
              <a:rPr lang="en-US" sz="2200" dirty="0">
                <a:solidFill>
                  <a:srgbClr val="DCE3EC"/>
                </a:solidFill>
                <a:latin typeface="Calibri" pitchFamily="34" charset="0"/>
                <a:ea typeface="Calibri" pitchFamily="34" charset="-122"/>
                <a:cs typeface="Calibri" pitchFamily="34" charset="-120"/>
              </a:rPr>
              <a:t>46,1% unit terjebak paradoks sarpras, 5,8% butuh afirmasi 3T.</a:t>
            </a:r>
            <a:endParaRPr lang="en-US" sz="2200" dirty="0"/>
          </a:p>
        </p:txBody>
      </p:sp>
      <p:sp>
        <p:nvSpPr>
          <p:cNvPr id="7" name="Penanda"/>
          <p:cNvSpPr/>
          <p:nvPr/>
        </p:nvSpPr>
        <p:spPr>
          <a:xfrm>
            <a:off x="548640" y="3355848"/>
            <a:ext cx="548640" cy="548640"/>
          </a:xfrm>
          <a:prstGeom prst="ellipse">
            <a:avLst/>
          </a:prstGeom>
          <a:solidFill>
            <a:srgbClr val="D99A1E"/>
          </a:solidFill>
          <a:ln w="12700">
            <a:solidFill>
              <a:srgbClr val="D99A1E"/>
            </a:solidFill>
            <a:prstDash val="solid"/>
          </a:ln>
        </p:spPr>
      </p:sp>
      <p:sp>
        <p:nvSpPr>
          <p:cNvPr id="8" name="Text 5"/>
          <p:cNvSpPr txBox="1"/>
          <p:nvPr/>
        </p:nvSpPr>
        <p:spPr>
          <a:xfrm>
            <a:off x="1371600" y="3246120"/>
            <a:ext cx="10058400" cy="777240"/>
          </a:xfrm>
          <a:prstGeom prst="rect">
            <a:avLst/>
          </a:prstGeom>
          <a:noFill/>
          <a:ln/>
        </p:spPr>
        <p:txBody>
          <a:bodyPr wrap="square" lIns="0" tIns="0" rIns="0" bIns="0" rtlCol="0" anchor="ctr"/>
          <a:lstStyle/>
          <a:p>
            <a:pPr indent="0" marL="0">
              <a:buNone/>
            </a:pPr>
            <a:r>
              <a:rPr lang="en-US" sz="2200" b="1" dirty="0">
                <a:solidFill>
                  <a:srgbClr val="F6F4EF"/>
                </a:solidFill>
                <a:latin typeface="Calibri" pitchFamily="34" charset="0"/>
                <a:ea typeface="Calibri" pitchFamily="34" charset="-122"/>
                <a:cs typeface="Calibri" pitchFamily="34" charset="-120"/>
              </a:rPr>
              <a:t>Apa: </a:t>
            </a:r>
            <a:pPr indent="0" marL="0">
              <a:buNone/>
            </a:pPr>
            <a:r>
              <a:rPr lang="en-US" sz="2200" dirty="0">
                <a:solidFill>
                  <a:srgbClr val="DCE3EC"/>
                </a:solidFill>
                <a:latin typeface="Calibri" pitchFamily="34" charset="0"/>
                <a:ea typeface="Calibri" pitchFamily="34" charset="-122"/>
                <a:cs typeface="Calibri" pitchFamily="34" charset="-120"/>
              </a:rPr>
              <a:t>Pedagogi tuas nasional, listrik dan air regional, rasa aman kunci 3T.</a:t>
            </a:r>
            <a:endParaRPr lang="en-US" sz="2200" dirty="0"/>
          </a:p>
        </p:txBody>
      </p:sp>
      <p:sp>
        <p:nvSpPr>
          <p:cNvPr id="9" name="Penanda"/>
          <p:cNvSpPr/>
          <p:nvPr/>
        </p:nvSpPr>
        <p:spPr>
          <a:xfrm>
            <a:off x="548640" y="4453128"/>
            <a:ext cx="548640" cy="548640"/>
          </a:xfrm>
          <a:prstGeom prst="ellipse">
            <a:avLst/>
          </a:prstGeom>
          <a:solidFill>
            <a:srgbClr val="C4532A"/>
          </a:solidFill>
          <a:ln w="12700">
            <a:solidFill>
              <a:srgbClr val="C4532A"/>
            </a:solidFill>
            <a:prstDash val="solid"/>
          </a:ln>
        </p:spPr>
      </p:sp>
      <p:sp>
        <p:nvSpPr>
          <p:cNvPr id="10" name="Text 7"/>
          <p:cNvSpPr txBox="1"/>
          <p:nvPr/>
        </p:nvSpPr>
        <p:spPr>
          <a:xfrm>
            <a:off x="1371600" y="4343400"/>
            <a:ext cx="10058400" cy="777240"/>
          </a:xfrm>
          <a:prstGeom prst="rect">
            <a:avLst/>
          </a:prstGeom>
          <a:noFill/>
          <a:ln/>
        </p:spPr>
        <p:txBody>
          <a:bodyPr wrap="square" lIns="0" tIns="0" rIns="0" bIns="0" rtlCol="0" anchor="ctr"/>
          <a:lstStyle/>
          <a:p>
            <a:pPr indent="0" marL="0">
              <a:buNone/>
            </a:pPr>
            <a:r>
              <a:rPr lang="en-US" sz="2200" b="1" dirty="0">
                <a:solidFill>
                  <a:srgbClr val="F6F4EF"/>
                </a:solidFill>
                <a:latin typeface="Calibri" pitchFamily="34" charset="0"/>
                <a:ea typeface="Calibri" pitchFamily="34" charset="-122"/>
                <a:cs typeface="Calibri" pitchFamily="34" charset="-120"/>
              </a:rPr>
              <a:t>Berapa: </a:t>
            </a:r>
            <a:pPr indent="0" marL="0">
              <a:buNone/>
            </a:pPr>
            <a:r>
              <a:rPr lang="en-US" sz="2200" dirty="0">
                <a:solidFill>
                  <a:srgbClr val="DCE3EC"/>
                </a:solidFill>
                <a:latin typeface="Calibri" pitchFamily="34" charset="0"/>
                <a:ea typeface="Calibri" pitchFamily="34" charset="-122"/>
                <a:cs typeface="Calibri" pitchFamily="34" charset="-120"/>
              </a:rPr>
              <a:t>Paket terpadu +6,80 poin, tertinggi di wilayah Paradoks (+7,61).</a:t>
            </a:r>
            <a:endParaRPr lang="en-US" sz="2200" dirty="0"/>
          </a:p>
        </p:txBody>
      </p:sp>
      <p:sp>
        <p:nvSpPr>
          <p:cNvPr id="11" name="Text 8"/>
          <p:cNvSpPr txBox="1"/>
          <p:nvPr/>
        </p:nvSpPr>
        <p:spPr>
          <a:xfrm>
            <a:off x="548640" y="5760720"/>
            <a:ext cx="5486400" cy="640080"/>
          </a:xfrm>
          <a:prstGeom prst="rect">
            <a:avLst/>
          </a:prstGeom>
          <a:noFill/>
          <a:ln/>
        </p:spPr>
        <p:txBody>
          <a:bodyPr wrap="square" lIns="0" tIns="0" rIns="0" bIns="0" rtlCol="0" anchor="ctr"/>
          <a:lstStyle/>
          <a:p>
            <a:pPr indent="0" marL="0">
              <a:buNone/>
            </a:pPr>
            <a:r>
              <a:rPr lang="en-US" sz="3600" b="1" dirty="0">
                <a:solidFill>
                  <a:srgbClr val="F6F4EF"/>
                </a:solidFill>
                <a:latin typeface="Cambria" pitchFamily="34" charset="0"/>
                <a:ea typeface="Cambria" pitchFamily="34" charset="-122"/>
                <a:cs typeface="Cambria" pitchFamily="34" charset="-120"/>
              </a:rPr>
              <a:t>Terima kasih</a:t>
            </a:r>
            <a:endParaRPr lang="en-US" sz="3600" dirty="0"/>
          </a:p>
        </p:txBody>
      </p:sp>
      <p:sp>
        <p:nvSpPr>
          <p:cNvPr id="12" name="Text 9"/>
          <p:cNvSpPr txBox="1"/>
          <p:nvPr/>
        </p:nvSpPr>
        <p:spPr>
          <a:xfrm>
            <a:off x="7315200" y="5897880"/>
            <a:ext cx="4325112" cy="457200"/>
          </a:xfrm>
          <a:prstGeom prst="rect">
            <a:avLst/>
          </a:prstGeom>
          <a:noFill/>
          <a:ln/>
        </p:spPr>
        <p:txBody>
          <a:bodyPr wrap="square" lIns="0" tIns="0" rIns="0" bIns="0" rtlCol="0" anchor="ctr"/>
          <a:lstStyle/>
          <a:p>
            <a:pPr algn="r" indent="0" marL="0">
              <a:buNone/>
            </a:pPr>
            <a:r>
              <a:rPr lang="en-US" sz="2000" dirty="0">
                <a:solidFill>
                  <a:srgbClr val="B9C3D3"/>
                </a:solidFill>
                <a:latin typeface="Calibri" pitchFamily="34" charset="0"/>
                <a:ea typeface="Calibri" pitchFamily="34" charset="-122"/>
                <a:cs typeface="Calibri" pitchFamily="34" charset="-120"/>
              </a:rPr>
              <a:t>nusa-mipa.vercel.app</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NUSA-MIPA Final DIMAS-TI 2026</dc:title>
  <dc:subject>PptxGenJS Presentation</dc:subject>
  <dc:creator>Tim Penambangan Data</dc:creator>
  <cp:lastModifiedBy>Tim Penambangan Data</cp:lastModifiedBy>
  <cp:revision>1</cp:revision>
  <dcterms:created xsi:type="dcterms:W3CDTF">2026-10-31T07:35:43Z</dcterms:created>
  <dcterms:modified xsi:type="dcterms:W3CDTF">2026-10-31T07:35:43Z</dcterms:modified>
</cp:coreProperties>
</file>